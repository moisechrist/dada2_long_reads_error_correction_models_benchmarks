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40" r:id="rId1"/>
  </p:sldMasterIdLst>
  <p:notesMasterIdLst>
    <p:notesMasterId r:id="rId16"/>
  </p:notesMasterIdLst>
  <p:sldIdLst>
    <p:sldId id="256" r:id="rId2"/>
    <p:sldId id="268" r:id="rId3"/>
    <p:sldId id="258" r:id="rId4"/>
    <p:sldId id="259" r:id="rId5"/>
    <p:sldId id="262" r:id="rId6"/>
    <p:sldId id="269" r:id="rId7"/>
    <p:sldId id="260" r:id="rId8"/>
    <p:sldId id="263" r:id="rId9"/>
    <p:sldId id="264" r:id="rId10"/>
    <p:sldId id="265" r:id="rId11"/>
    <p:sldId id="270" r:id="rId12"/>
    <p:sldId id="266" r:id="rId13"/>
    <p:sldId id="267" r:id="rId14"/>
    <p:sldId id="261" r:id="rId1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525" dt="2026-10-18T23:41:19.939"/>
    <p1510:client id="{0331DF64-11C9-B398-6D5E-C37974AC5B44}" v="62" dt="2026-10-19T10:55:06.217"/>
    <p1510:client id="{38D884B4-E4C8-B1F5-E081-8FA542BA4788}" v="314" dt="2026-10-18T21:48:04.587"/>
    <p1510:client id="{C0B4610D-7E76-384B-B169-BDD0C0A58E1B}" v="23" dt="2026-10-19T20:57:20.0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70" autoAdjust="0"/>
    <p:restoredTop sz="94660"/>
  </p:normalViewPr>
  <p:slideViewPr>
    <p:cSldViewPr snapToGrid="0">
      <p:cViewPr>
        <p:scale>
          <a:sx n="100" d="100"/>
          <a:sy n="100" d="100"/>
        </p:scale>
        <p:origin x="440" y="9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B4CCCEE-D24B-4078-AF67-CB340519D3D1}"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6246609B-1100-456C-A603-A32E98E925D2}">
      <dgm:prSet/>
      <dgm:spPr/>
      <dgm:t>
        <a:bodyPr/>
        <a:lstStyle/>
        <a:p>
          <a:pPr>
            <a:defRPr cap="all"/>
          </a:pPr>
          <a:r>
            <a:rPr lang="en-US"/>
            <a:t>Context</a:t>
          </a:r>
        </a:p>
      </dgm:t>
    </dgm:pt>
    <dgm:pt modelId="{09F75AC5-C419-40E6-890B-DE25EF8300D6}" type="parTrans" cxnId="{7CFAB1B9-8773-47C9-8AD5-2ACCD4AA86B3}">
      <dgm:prSet/>
      <dgm:spPr/>
      <dgm:t>
        <a:bodyPr/>
        <a:lstStyle/>
        <a:p>
          <a:endParaRPr lang="en-US"/>
        </a:p>
      </dgm:t>
    </dgm:pt>
    <dgm:pt modelId="{94DB792B-E721-402B-A25F-B52A10597741}" type="sibTrans" cxnId="{7CFAB1B9-8773-47C9-8AD5-2ACCD4AA86B3}">
      <dgm:prSet/>
      <dgm:spPr/>
      <dgm:t>
        <a:bodyPr/>
        <a:lstStyle/>
        <a:p>
          <a:endParaRPr lang="en-US"/>
        </a:p>
      </dgm:t>
    </dgm:pt>
    <dgm:pt modelId="{E3330ACB-9EC5-49F3-8F4B-1A8B72BE898C}">
      <dgm:prSet/>
      <dgm:spPr/>
      <dgm:t>
        <a:bodyPr/>
        <a:lstStyle/>
        <a:p>
          <a:pPr>
            <a:defRPr cap="all"/>
          </a:pPr>
          <a:r>
            <a:rPr lang="en-US"/>
            <a:t>Method</a:t>
          </a:r>
        </a:p>
      </dgm:t>
    </dgm:pt>
    <dgm:pt modelId="{6264B587-DBC9-4329-88E5-8054528A4515}" type="parTrans" cxnId="{6CDF6C51-E9A7-46F3-AC57-D0B64715CFA1}">
      <dgm:prSet/>
      <dgm:spPr/>
      <dgm:t>
        <a:bodyPr/>
        <a:lstStyle/>
        <a:p>
          <a:endParaRPr lang="en-US"/>
        </a:p>
      </dgm:t>
    </dgm:pt>
    <dgm:pt modelId="{FD67D538-89D5-44BE-9693-7999D6CE62D4}" type="sibTrans" cxnId="{6CDF6C51-E9A7-46F3-AC57-D0B64715CFA1}">
      <dgm:prSet/>
      <dgm:spPr/>
      <dgm:t>
        <a:bodyPr/>
        <a:lstStyle/>
        <a:p>
          <a:endParaRPr lang="en-US"/>
        </a:p>
      </dgm:t>
    </dgm:pt>
    <dgm:pt modelId="{34E58E1C-38A5-4A99-8600-1971CE50BD1E}">
      <dgm:prSet/>
      <dgm:spPr/>
      <dgm:t>
        <a:bodyPr/>
        <a:lstStyle/>
        <a:p>
          <a:pPr>
            <a:defRPr cap="all"/>
          </a:pPr>
          <a:r>
            <a:rPr lang="en-US"/>
            <a:t>Results</a:t>
          </a:r>
        </a:p>
      </dgm:t>
    </dgm:pt>
    <dgm:pt modelId="{409EF389-D25F-4CAF-A293-A6FC1C1F3930}" type="parTrans" cxnId="{337A99E5-753E-45D0-9050-27DD4021D75B}">
      <dgm:prSet/>
      <dgm:spPr/>
      <dgm:t>
        <a:bodyPr/>
        <a:lstStyle/>
        <a:p>
          <a:endParaRPr lang="en-US"/>
        </a:p>
      </dgm:t>
    </dgm:pt>
    <dgm:pt modelId="{7A4BD15A-09B5-497B-B808-CF8BA5B2257C}" type="sibTrans" cxnId="{337A99E5-753E-45D0-9050-27DD4021D75B}">
      <dgm:prSet/>
      <dgm:spPr/>
      <dgm:t>
        <a:bodyPr/>
        <a:lstStyle/>
        <a:p>
          <a:endParaRPr lang="en-US"/>
        </a:p>
      </dgm:t>
    </dgm:pt>
    <dgm:pt modelId="{A76F05D0-A338-4E39-8AB7-3692FA397528}">
      <dgm:prSet/>
      <dgm:spPr/>
      <dgm:t>
        <a:bodyPr/>
        <a:lstStyle/>
        <a:p>
          <a:pPr>
            <a:defRPr cap="all"/>
          </a:pPr>
          <a:r>
            <a:rPr lang="en-US"/>
            <a:t>Conclusion</a:t>
          </a:r>
        </a:p>
      </dgm:t>
    </dgm:pt>
    <dgm:pt modelId="{10D90391-55DD-436E-805A-8B3E68E51498}" type="parTrans" cxnId="{DAA19090-CC79-48AA-8D22-B275C568BEBF}">
      <dgm:prSet/>
      <dgm:spPr/>
      <dgm:t>
        <a:bodyPr/>
        <a:lstStyle/>
        <a:p>
          <a:endParaRPr lang="en-US"/>
        </a:p>
      </dgm:t>
    </dgm:pt>
    <dgm:pt modelId="{A76177B1-D301-45B6-89C6-DFE6589291BE}" type="sibTrans" cxnId="{DAA19090-CC79-48AA-8D22-B275C568BEBF}">
      <dgm:prSet/>
      <dgm:spPr/>
      <dgm:t>
        <a:bodyPr/>
        <a:lstStyle/>
        <a:p>
          <a:endParaRPr lang="en-US"/>
        </a:p>
      </dgm:t>
    </dgm:pt>
    <dgm:pt modelId="{BE17254F-D217-4FA8-9FC4-0E61B38CC357}" type="pres">
      <dgm:prSet presAssocID="{CB4CCCEE-D24B-4078-AF67-CB340519D3D1}" presName="root" presStyleCnt="0">
        <dgm:presLayoutVars>
          <dgm:dir/>
          <dgm:resizeHandles val="exact"/>
        </dgm:presLayoutVars>
      </dgm:prSet>
      <dgm:spPr/>
    </dgm:pt>
    <dgm:pt modelId="{1C2D198D-4AFA-451D-BF9F-4BF9BF8F4986}" type="pres">
      <dgm:prSet presAssocID="{6246609B-1100-456C-A603-A32E98E925D2}" presName="compNode" presStyleCnt="0"/>
      <dgm:spPr/>
    </dgm:pt>
    <dgm:pt modelId="{9DCD276D-D3B9-454D-B0B0-F192C68BBEFE}" type="pres">
      <dgm:prSet presAssocID="{6246609B-1100-456C-A603-A32E98E925D2}" presName="iconBgRect" presStyleLbl="bgShp" presStyleIdx="0" presStyleCnt="4"/>
      <dgm:spPr/>
    </dgm:pt>
    <dgm:pt modelId="{72D94512-46B4-405E-BF1D-762D155C8515}" type="pres">
      <dgm:prSet presAssocID="{6246609B-1100-456C-A603-A32E98E925D2}"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Earth Globe Americas"/>
        </a:ext>
      </dgm:extLst>
    </dgm:pt>
    <dgm:pt modelId="{E80A79FE-DC19-4380-AB81-BCA5D3B28A1A}" type="pres">
      <dgm:prSet presAssocID="{6246609B-1100-456C-A603-A32E98E925D2}" presName="spaceRect" presStyleCnt="0"/>
      <dgm:spPr/>
    </dgm:pt>
    <dgm:pt modelId="{6463DBA3-1D34-4624-98E5-88CDFBD0F4B3}" type="pres">
      <dgm:prSet presAssocID="{6246609B-1100-456C-A603-A32E98E925D2}" presName="textRect" presStyleLbl="revTx" presStyleIdx="0" presStyleCnt="4">
        <dgm:presLayoutVars>
          <dgm:chMax val="1"/>
          <dgm:chPref val="1"/>
        </dgm:presLayoutVars>
      </dgm:prSet>
      <dgm:spPr/>
    </dgm:pt>
    <dgm:pt modelId="{63F29D90-1ACE-420C-9F4A-5D8901895542}" type="pres">
      <dgm:prSet presAssocID="{94DB792B-E721-402B-A25F-B52A10597741}" presName="sibTrans" presStyleCnt="0"/>
      <dgm:spPr/>
    </dgm:pt>
    <dgm:pt modelId="{638118E7-8077-4A8E-AB30-DDC1CDC0F3C8}" type="pres">
      <dgm:prSet presAssocID="{E3330ACB-9EC5-49F3-8F4B-1A8B72BE898C}" presName="compNode" presStyleCnt="0"/>
      <dgm:spPr/>
    </dgm:pt>
    <dgm:pt modelId="{5651239A-6A92-4C34-AC16-61CBC9EA24FA}" type="pres">
      <dgm:prSet presAssocID="{E3330ACB-9EC5-49F3-8F4B-1A8B72BE898C}" presName="iconBgRect" presStyleLbl="bgShp" presStyleIdx="1" presStyleCnt="4"/>
      <dgm:spPr/>
    </dgm:pt>
    <dgm:pt modelId="{036F78C4-010F-4816-9BA8-879C867770CB}" type="pres">
      <dgm:prSet presAssocID="{E3330ACB-9EC5-49F3-8F4B-1A8B72BE898C}"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ircles with Arrows"/>
        </a:ext>
      </dgm:extLst>
    </dgm:pt>
    <dgm:pt modelId="{3180C8C3-4BAB-4FDA-AC50-C344E970F514}" type="pres">
      <dgm:prSet presAssocID="{E3330ACB-9EC5-49F3-8F4B-1A8B72BE898C}" presName="spaceRect" presStyleCnt="0"/>
      <dgm:spPr/>
    </dgm:pt>
    <dgm:pt modelId="{4A0EEA85-8C45-4EE3-86DA-4BC3AB505468}" type="pres">
      <dgm:prSet presAssocID="{E3330ACB-9EC5-49F3-8F4B-1A8B72BE898C}" presName="textRect" presStyleLbl="revTx" presStyleIdx="1" presStyleCnt="4">
        <dgm:presLayoutVars>
          <dgm:chMax val="1"/>
          <dgm:chPref val="1"/>
        </dgm:presLayoutVars>
      </dgm:prSet>
      <dgm:spPr/>
    </dgm:pt>
    <dgm:pt modelId="{87E3FB9D-A748-472A-9270-7A097E421F05}" type="pres">
      <dgm:prSet presAssocID="{FD67D538-89D5-44BE-9693-7999D6CE62D4}" presName="sibTrans" presStyleCnt="0"/>
      <dgm:spPr/>
    </dgm:pt>
    <dgm:pt modelId="{4ECED72E-24A5-4F4B-80D3-243AF1805DD7}" type="pres">
      <dgm:prSet presAssocID="{34E58E1C-38A5-4A99-8600-1971CE50BD1E}" presName="compNode" presStyleCnt="0"/>
      <dgm:spPr/>
    </dgm:pt>
    <dgm:pt modelId="{194A41CF-F4FB-4F91-BAB6-FE2A06DE7760}" type="pres">
      <dgm:prSet presAssocID="{34E58E1C-38A5-4A99-8600-1971CE50BD1E}" presName="iconBgRect" presStyleLbl="bgShp" presStyleIdx="2" presStyleCnt="4"/>
      <dgm:spPr/>
    </dgm:pt>
    <dgm:pt modelId="{5F26574F-FA46-4134-B496-AF12C1FE9AE4}" type="pres">
      <dgm:prSet presAssocID="{34E58E1C-38A5-4A99-8600-1971CE50BD1E}"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ar chart"/>
        </a:ext>
      </dgm:extLst>
    </dgm:pt>
    <dgm:pt modelId="{695F2E9E-D0AE-44EB-8360-05EC4D41BB2C}" type="pres">
      <dgm:prSet presAssocID="{34E58E1C-38A5-4A99-8600-1971CE50BD1E}" presName="spaceRect" presStyleCnt="0"/>
      <dgm:spPr/>
    </dgm:pt>
    <dgm:pt modelId="{51A38342-7914-4069-9219-0DEE190CD2F4}" type="pres">
      <dgm:prSet presAssocID="{34E58E1C-38A5-4A99-8600-1971CE50BD1E}" presName="textRect" presStyleLbl="revTx" presStyleIdx="2" presStyleCnt="4">
        <dgm:presLayoutVars>
          <dgm:chMax val="1"/>
          <dgm:chPref val="1"/>
        </dgm:presLayoutVars>
      </dgm:prSet>
      <dgm:spPr/>
    </dgm:pt>
    <dgm:pt modelId="{F81D7621-8281-4677-B6B7-B7FA9CD40241}" type="pres">
      <dgm:prSet presAssocID="{7A4BD15A-09B5-497B-B808-CF8BA5B2257C}" presName="sibTrans" presStyleCnt="0"/>
      <dgm:spPr/>
    </dgm:pt>
    <dgm:pt modelId="{A8273A33-856A-4352-9967-F5F7016FA774}" type="pres">
      <dgm:prSet presAssocID="{A76F05D0-A338-4E39-8AB7-3692FA397528}" presName="compNode" presStyleCnt="0"/>
      <dgm:spPr/>
    </dgm:pt>
    <dgm:pt modelId="{B41F37F5-CF3A-4112-89DB-DFA85F496F43}" type="pres">
      <dgm:prSet presAssocID="{A76F05D0-A338-4E39-8AB7-3692FA397528}" presName="iconBgRect" presStyleLbl="bgShp" presStyleIdx="3" presStyleCnt="4"/>
      <dgm:spPr/>
    </dgm:pt>
    <dgm:pt modelId="{60D8B388-0571-4AA3-8B42-7AE358C1D74C}" type="pres">
      <dgm:prSet presAssocID="{A76F05D0-A338-4E39-8AB7-3692FA397528}"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99181061-E384-4B6D-9CAB-8E42F124B7BA}" type="pres">
      <dgm:prSet presAssocID="{A76F05D0-A338-4E39-8AB7-3692FA397528}" presName="spaceRect" presStyleCnt="0"/>
      <dgm:spPr/>
    </dgm:pt>
    <dgm:pt modelId="{186A032A-9D48-4CE6-AA3F-BF5BF4788F04}" type="pres">
      <dgm:prSet presAssocID="{A76F05D0-A338-4E39-8AB7-3692FA397528}" presName="textRect" presStyleLbl="revTx" presStyleIdx="3" presStyleCnt="4">
        <dgm:presLayoutVars>
          <dgm:chMax val="1"/>
          <dgm:chPref val="1"/>
        </dgm:presLayoutVars>
      </dgm:prSet>
      <dgm:spPr/>
    </dgm:pt>
  </dgm:ptLst>
  <dgm:cxnLst>
    <dgm:cxn modelId="{E6EBB327-9E1B-455C-B3B9-E7CF3864B96E}" type="presOf" srcId="{34E58E1C-38A5-4A99-8600-1971CE50BD1E}" destId="{51A38342-7914-4069-9219-0DEE190CD2F4}" srcOrd="0" destOrd="0" presId="urn:microsoft.com/office/officeart/2018/5/layout/IconCircleLabelList"/>
    <dgm:cxn modelId="{A76D2137-A147-4F89-BBD2-FA56BCFBEF50}" type="presOf" srcId="{CB4CCCEE-D24B-4078-AF67-CB340519D3D1}" destId="{BE17254F-D217-4FA8-9FC4-0E61B38CC357}" srcOrd="0" destOrd="0" presId="urn:microsoft.com/office/officeart/2018/5/layout/IconCircleLabelList"/>
    <dgm:cxn modelId="{6CDF6C51-E9A7-46F3-AC57-D0B64715CFA1}" srcId="{CB4CCCEE-D24B-4078-AF67-CB340519D3D1}" destId="{E3330ACB-9EC5-49F3-8F4B-1A8B72BE898C}" srcOrd="1" destOrd="0" parTransId="{6264B587-DBC9-4329-88E5-8054528A4515}" sibTransId="{FD67D538-89D5-44BE-9693-7999D6CE62D4}"/>
    <dgm:cxn modelId="{DAA19090-CC79-48AA-8D22-B275C568BEBF}" srcId="{CB4CCCEE-D24B-4078-AF67-CB340519D3D1}" destId="{A76F05D0-A338-4E39-8AB7-3692FA397528}" srcOrd="3" destOrd="0" parTransId="{10D90391-55DD-436E-805A-8B3E68E51498}" sibTransId="{A76177B1-D301-45B6-89C6-DFE6589291BE}"/>
    <dgm:cxn modelId="{A390FE9E-CFA1-415F-A358-094897AB31E9}" type="presOf" srcId="{E3330ACB-9EC5-49F3-8F4B-1A8B72BE898C}" destId="{4A0EEA85-8C45-4EE3-86DA-4BC3AB505468}" srcOrd="0" destOrd="0" presId="urn:microsoft.com/office/officeart/2018/5/layout/IconCircleLabelList"/>
    <dgm:cxn modelId="{FA4A80B5-B370-4A6B-A187-6D491FD62424}" type="presOf" srcId="{A76F05D0-A338-4E39-8AB7-3692FA397528}" destId="{186A032A-9D48-4CE6-AA3F-BF5BF4788F04}" srcOrd="0" destOrd="0" presId="urn:microsoft.com/office/officeart/2018/5/layout/IconCircleLabelList"/>
    <dgm:cxn modelId="{7CFAB1B9-8773-47C9-8AD5-2ACCD4AA86B3}" srcId="{CB4CCCEE-D24B-4078-AF67-CB340519D3D1}" destId="{6246609B-1100-456C-A603-A32E98E925D2}" srcOrd="0" destOrd="0" parTransId="{09F75AC5-C419-40E6-890B-DE25EF8300D6}" sibTransId="{94DB792B-E721-402B-A25F-B52A10597741}"/>
    <dgm:cxn modelId="{3362FEDB-504F-4944-8001-D16666E320E5}" type="presOf" srcId="{6246609B-1100-456C-A603-A32E98E925D2}" destId="{6463DBA3-1D34-4624-98E5-88CDFBD0F4B3}" srcOrd="0" destOrd="0" presId="urn:microsoft.com/office/officeart/2018/5/layout/IconCircleLabelList"/>
    <dgm:cxn modelId="{337A99E5-753E-45D0-9050-27DD4021D75B}" srcId="{CB4CCCEE-D24B-4078-AF67-CB340519D3D1}" destId="{34E58E1C-38A5-4A99-8600-1971CE50BD1E}" srcOrd="2" destOrd="0" parTransId="{409EF389-D25F-4CAF-A293-A6FC1C1F3930}" sibTransId="{7A4BD15A-09B5-497B-B808-CF8BA5B2257C}"/>
    <dgm:cxn modelId="{20B8F83C-BF5A-4E7E-AC59-7C3D88FDB4B0}" type="presParOf" srcId="{BE17254F-D217-4FA8-9FC4-0E61B38CC357}" destId="{1C2D198D-4AFA-451D-BF9F-4BF9BF8F4986}" srcOrd="0" destOrd="0" presId="urn:microsoft.com/office/officeart/2018/5/layout/IconCircleLabelList"/>
    <dgm:cxn modelId="{CBF1C086-096F-4BCE-A459-9EAF11E9B4BA}" type="presParOf" srcId="{1C2D198D-4AFA-451D-BF9F-4BF9BF8F4986}" destId="{9DCD276D-D3B9-454D-B0B0-F192C68BBEFE}" srcOrd="0" destOrd="0" presId="urn:microsoft.com/office/officeart/2018/5/layout/IconCircleLabelList"/>
    <dgm:cxn modelId="{BE34B4CC-0DA8-4C64-BF23-6640E6454010}" type="presParOf" srcId="{1C2D198D-4AFA-451D-BF9F-4BF9BF8F4986}" destId="{72D94512-46B4-405E-BF1D-762D155C8515}" srcOrd="1" destOrd="0" presId="urn:microsoft.com/office/officeart/2018/5/layout/IconCircleLabelList"/>
    <dgm:cxn modelId="{75388BF1-C737-4959-8278-CE526457DF5F}" type="presParOf" srcId="{1C2D198D-4AFA-451D-BF9F-4BF9BF8F4986}" destId="{E80A79FE-DC19-4380-AB81-BCA5D3B28A1A}" srcOrd="2" destOrd="0" presId="urn:microsoft.com/office/officeart/2018/5/layout/IconCircleLabelList"/>
    <dgm:cxn modelId="{0AD84B43-925A-46BC-83A4-4FF434012AB1}" type="presParOf" srcId="{1C2D198D-4AFA-451D-BF9F-4BF9BF8F4986}" destId="{6463DBA3-1D34-4624-98E5-88CDFBD0F4B3}" srcOrd="3" destOrd="0" presId="urn:microsoft.com/office/officeart/2018/5/layout/IconCircleLabelList"/>
    <dgm:cxn modelId="{9271B2B3-70EB-499A-A06F-D26FCAF8E06E}" type="presParOf" srcId="{BE17254F-D217-4FA8-9FC4-0E61B38CC357}" destId="{63F29D90-1ACE-420C-9F4A-5D8901895542}" srcOrd="1" destOrd="0" presId="urn:microsoft.com/office/officeart/2018/5/layout/IconCircleLabelList"/>
    <dgm:cxn modelId="{44AFACCF-DD88-4672-B223-64313547BFDC}" type="presParOf" srcId="{BE17254F-D217-4FA8-9FC4-0E61B38CC357}" destId="{638118E7-8077-4A8E-AB30-DDC1CDC0F3C8}" srcOrd="2" destOrd="0" presId="urn:microsoft.com/office/officeart/2018/5/layout/IconCircleLabelList"/>
    <dgm:cxn modelId="{24FD1EF7-BBB7-402B-90DC-A3F20B1E0F4F}" type="presParOf" srcId="{638118E7-8077-4A8E-AB30-DDC1CDC0F3C8}" destId="{5651239A-6A92-4C34-AC16-61CBC9EA24FA}" srcOrd="0" destOrd="0" presId="urn:microsoft.com/office/officeart/2018/5/layout/IconCircleLabelList"/>
    <dgm:cxn modelId="{EE56090C-114A-42A1-B0D0-70624A13EAD3}" type="presParOf" srcId="{638118E7-8077-4A8E-AB30-DDC1CDC0F3C8}" destId="{036F78C4-010F-4816-9BA8-879C867770CB}" srcOrd="1" destOrd="0" presId="urn:microsoft.com/office/officeart/2018/5/layout/IconCircleLabelList"/>
    <dgm:cxn modelId="{4569147B-0EAA-4693-AB26-3B0E238E2BCF}" type="presParOf" srcId="{638118E7-8077-4A8E-AB30-DDC1CDC0F3C8}" destId="{3180C8C3-4BAB-4FDA-AC50-C344E970F514}" srcOrd="2" destOrd="0" presId="urn:microsoft.com/office/officeart/2018/5/layout/IconCircleLabelList"/>
    <dgm:cxn modelId="{21129E39-36EA-4378-ACC3-08070E67B98D}" type="presParOf" srcId="{638118E7-8077-4A8E-AB30-DDC1CDC0F3C8}" destId="{4A0EEA85-8C45-4EE3-86DA-4BC3AB505468}" srcOrd="3" destOrd="0" presId="urn:microsoft.com/office/officeart/2018/5/layout/IconCircleLabelList"/>
    <dgm:cxn modelId="{34A5F5AD-1F45-4303-9C88-FA26CD9AA522}" type="presParOf" srcId="{BE17254F-D217-4FA8-9FC4-0E61B38CC357}" destId="{87E3FB9D-A748-472A-9270-7A097E421F05}" srcOrd="3" destOrd="0" presId="urn:microsoft.com/office/officeart/2018/5/layout/IconCircleLabelList"/>
    <dgm:cxn modelId="{F3CD6B57-41BA-4DA2-8DA9-D61F72B90F1A}" type="presParOf" srcId="{BE17254F-D217-4FA8-9FC4-0E61B38CC357}" destId="{4ECED72E-24A5-4F4B-80D3-243AF1805DD7}" srcOrd="4" destOrd="0" presId="urn:microsoft.com/office/officeart/2018/5/layout/IconCircleLabelList"/>
    <dgm:cxn modelId="{9180C75A-E38E-4775-8943-3ED656899295}" type="presParOf" srcId="{4ECED72E-24A5-4F4B-80D3-243AF1805DD7}" destId="{194A41CF-F4FB-4F91-BAB6-FE2A06DE7760}" srcOrd="0" destOrd="0" presId="urn:microsoft.com/office/officeart/2018/5/layout/IconCircleLabelList"/>
    <dgm:cxn modelId="{6BA7606D-A6ED-4FA8-9155-4864F3A7D2CD}" type="presParOf" srcId="{4ECED72E-24A5-4F4B-80D3-243AF1805DD7}" destId="{5F26574F-FA46-4134-B496-AF12C1FE9AE4}" srcOrd="1" destOrd="0" presId="urn:microsoft.com/office/officeart/2018/5/layout/IconCircleLabelList"/>
    <dgm:cxn modelId="{3294066D-6B25-459C-9BEC-C6826C7068E6}" type="presParOf" srcId="{4ECED72E-24A5-4F4B-80D3-243AF1805DD7}" destId="{695F2E9E-D0AE-44EB-8360-05EC4D41BB2C}" srcOrd="2" destOrd="0" presId="urn:microsoft.com/office/officeart/2018/5/layout/IconCircleLabelList"/>
    <dgm:cxn modelId="{3ABB6416-0A79-4498-8FAB-B5CFCB3B4AC1}" type="presParOf" srcId="{4ECED72E-24A5-4F4B-80D3-243AF1805DD7}" destId="{51A38342-7914-4069-9219-0DEE190CD2F4}" srcOrd="3" destOrd="0" presId="urn:microsoft.com/office/officeart/2018/5/layout/IconCircleLabelList"/>
    <dgm:cxn modelId="{F5C4814F-7385-41F3-AD68-D5682E6A9EF2}" type="presParOf" srcId="{BE17254F-D217-4FA8-9FC4-0E61B38CC357}" destId="{F81D7621-8281-4677-B6B7-B7FA9CD40241}" srcOrd="5" destOrd="0" presId="urn:microsoft.com/office/officeart/2018/5/layout/IconCircleLabelList"/>
    <dgm:cxn modelId="{88412B66-B455-49BF-B06F-ACFA4AC08045}" type="presParOf" srcId="{BE17254F-D217-4FA8-9FC4-0E61B38CC357}" destId="{A8273A33-856A-4352-9967-F5F7016FA774}" srcOrd="6" destOrd="0" presId="urn:microsoft.com/office/officeart/2018/5/layout/IconCircleLabelList"/>
    <dgm:cxn modelId="{8050BCB8-241D-42FF-9092-68542F0A3C91}" type="presParOf" srcId="{A8273A33-856A-4352-9967-F5F7016FA774}" destId="{B41F37F5-CF3A-4112-89DB-DFA85F496F43}" srcOrd="0" destOrd="0" presId="urn:microsoft.com/office/officeart/2018/5/layout/IconCircleLabelList"/>
    <dgm:cxn modelId="{A6AC3D02-CC18-42BE-BB80-AA99199DCCAF}" type="presParOf" srcId="{A8273A33-856A-4352-9967-F5F7016FA774}" destId="{60D8B388-0571-4AA3-8B42-7AE358C1D74C}" srcOrd="1" destOrd="0" presId="urn:microsoft.com/office/officeart/2018/5/layout/IconCircleLabelList"/>
    <dgm:cxn modelId="{F07F4577-CE5D-4B18-ACA3-33B8F0434C4A}" type="presParOf" srcId="{A8273A33-856A-4352-9967-F5F7016FA774}" destId="{99181061-E384-4B6D-9CAB-8E42F124B7BA}" srcOrd="2" destOrd="0" presId="urn:microsoft.com/office/officeart/2018/5/layout/IconCircleLabelList"/>
    <dgm:cxn modelId="{A4147C20-5880-4452-811D-F41F82CBC1AA}" type="presParOf" srcId="{A8273A33-856A-4352-9967-F5F7016FA774}" destId="{186A032A-9D48-4CE6-AA3F-BF5BF4788F04}"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CD276D-D3B9-454D-B0B0-F192C68BBEFE}">
      <dsp:nvSpPr>
        <dsp:cNvPr id="0" name=""/>
        <dsp:cNvSpPr/>
      </dsp:nvSpPr>
      <dsp:spPr>
        <a:xfrm>
          <a:off x="800672" y="698685"/>
          <a:ext cx="1256587" cy="125658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D94512-46B4-405E-BF1D-762D155C8515}">
      <dsp:nvSpPr>
        <dsp:cNvPr id="0" name=""/>
        <dsp:cNvSpPr/>
      </dsp:nvSpPr>
      <dsp:spPr>
        <a:xfrm>
          <a:off x="1068469" y="966482"/>
          <a:ext cx="720993" cy="72099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463DBA3-1D34-4624-98E5-88CDFBD0F4B3}">
      <dsp:nvSpPr>
        <dsp:cNvPr id="0" name=""/>
        <dsp:cNvSpPr/>
      </dsp:nvSpPr>
      <dsp:spPr>
        <a:xfrm>
          <a:off x="398976" y="2346669"/>
          <a:ext cx="205998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89050">
            <a:lnSpc>
              <a:spcPct val="90000"/>
            </a:lnSpc>
            <a:spcBef>
              <a:spcPct val="0"/>
            </a:spcBef>
            <a:spcAft>
              <a:spcPct val="35000"/>
            </a:spcAft>
            <a:buNone/>
            <a:defRPr cap="all"/>
          </a:pPr>
          <a:r>
            <a:rPr lang="en-US" sz="2900" kern="1200"/>
            <a:t>Context</a:t>
          </a:r>
        </a:p>
      </dsp:txBody>
      <dsp:txXfrm>
        <a:off x="398976" y="2346669"/>
        <a:ext cx="2059980" cy="720000"/>
      </dsp:txXfrm>
    </dsp:sp>
    <dsp:sp modelId="{5651239A-6A92-4C34-AC16-61CBC9EA24FA}">
      <dsp:nvSpPr>
        <dsp:cNvPr id="0" name=""/>
        <dsp:cNvSpPr/>
      </dsp:nvSpPr>
      <dsp:spPr>
        <a:xfrm>
          <a:off x="3221148" y="698685"/>
          <a:ext cx="1256587" cy="1256587"/>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6F78C4-010F-4816-9BA8-879C867770CB}">
      <dsp:nvSpPr>
        <dsp:cNvPr id="0" name=""/>
        <dsp:cNvSpPr/>
      </dsp:nvSpPr>
      <dsp:spPr>
        <a:xfrm>
          <a:off x="3488946" y="966482"/>
          <a:ext cx="720993" cy="72099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A0EEA85-8C45-4EE3-86DA-4BC3AB505468}">
      <dsp:nvSpPr>
        <dsp:cNvPr id="0" name=""/>
        <dsp:cNvSpPr/>
      </dsp:nvSpPr>
      <dsp:spPr>
        <a:xfrm>
          <a:off x="2819452" y="2346669"/>
          <a:ext cx="205998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89050">
            <a:lnSpc>
              <a:spcPct val="90000"/>
            </a:lnSpc>
            <a:spcBef>
              <a:spcPct val="0"/>
            </a:spcBef>
            <a:spcAft>
              <a:spcPct val="35000"/>
            </a:spcAft>
            <a:buNone/>
            <a:defRPr cap="all"/>
          </a:pPr>
          <a:r>
            <a:rPr lang="en-US" sz="2900" kern="1200"/>
            <a:t>Method</a:t>
          </a:r>
        </a:p>
      </dsp:txBody>
      <dsp:txXfrm>
        <a:off x="2819452" y="2346669"/>
        <a:ext cx="2059980" cy="720000"/>
      </dsp:txXfrm>
    </dsp:sp>
    <dsp:sp modelId="{194A41CF-F4FB-4F91-BAB6-FE2A06DE7760}">
      <dsp:nvSpPr>
        <dsp:cNvPr id="0" name=""/>
        <dsp:cNvSpPr/>
      </dsp:nvSpPr>
      <dsp:spPr>
        <a:xfrm>
          <a:off x="5641625" y="698685"/>
          <a:ext cx="1256587" cy="1256587"/>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26574F-FA46-4134-B496-AF12C1FE9AE4}">
      <dsp:nvSpPr>
        <dsp:cNvPr id="0" name=""/>
        <dsp:cNvSpPr/>
      </dsp:nvSpPr>
      <dsp:spPr>
        <a:xfrm>
          <a:off x="5909422" y="966482"/>
          <a:ext cx="720993" cy="72099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1A38342-7914-4069-9219-0DEE190CD2F4}">
      <dsp:nvSpPr>
        <dsp:cNvPr id="0" name=""/>
        <dsp:cNvSpPr/>
      </dsp:nvSpPr>
      <dsp:spPr>
        <a:xfrm>
          <a:off x="5239929" y="2346669"/>
          <a:ext cx="205998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89050">
            <a:lnSpc>
              <a:spcPct val="90000"/>
            </a:lnSpc>
            <a:spcBef>
              <a:spcPct val="0"/>
            </a:spcBef>
            <a:spcAft>
              <a:spcPct val="35000"/>
            </a:spcAft>
            <a:buNone/>
            <a:defRPr cap="all"/>
          </a:pPr>
          <a:r>
            <a:rPr lang="en-US" sz="2900" kern="1200"/>
            <a:t>Results</a:t>
          </a:r>
        </a:p>
      </dsp:txBody>
      <dsp:txXfrm>
        <a:off x="5239929" y="2346669"/>
        <a:ext cx="2059980" cy="720000"/>
      </dsp:txXfrm>
    </dsp:sp>
    <dsp:sp modelId="{B41F37F5-CF3A-4112-89DB-DFA85F496F43}">
      <dsp:nvSpPr>
        <dsp:cNvPr id="0" name=""/>
        <dsp:cNvSpPr/>
      </dsp:nvSpPr>
      <dsp:spPr>
        <a:xfrm>
          <a:off x="8062101" y="698685"/>
          <a:ext cx="1256587" cy="1256587"/>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D8B388-0571-4AA3-8B42-7AE358C1D74C}">
      <dsp:nvSpPr>
        <dsp:cNvPr id="0" name=""/>
        <dsp:cNvSpPr/>
      </dsp:nvSpPr>
      <dsp:spPr>
        <a:xfrm>
          <a:off x="8329899" y="966482"/>
          <a:ext cx="720993" cy="72099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86A032A-9D48-4CE6-AA3F-BF5BF4788F04}">
      <dsp:nvSpPr>
        <dsp:cNvPr id="0" name=""/>
        <dsp:cNvSpPr/>
      </dsp:nvSpPr>
      <dsp:spPr>
        <a:xfrm>
          <a:off x="7660405" y="2346669"/>
          <a:ext cx="205998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89050">
            <a:lnSpc>
              <a:spcPct val="90000"/>
            </a:lnSpc>
            <a:spcBef>
              <a:spcPct val="0"/>
            </a:spcBef>
            <a:spcAft>
              <a:spcPct val="35000"/>
            </a:spcAft>
            <a:buNone/>
            <a:defRPr cap="all"/>
          </a:pPr>
          <a:r>
            <a:rPr lang="en-US" sz="2900" kern="1200"/>
            <a:t>Conclusion</a:t>
          </a:r>
        </a:p>
      </dsp:txBody>
      <dsp:txXfrm>
        <a:off x="7660405" y="2346669"/>
        <a:ext cx="205998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BDBDBA-9470-4982-87E8-ABD8E281DB51}" type="datetimeFigureOut">
              <a:t>10/19/26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987ADD-6167-40A6-A5D2-88686D6E0E69}" type="slidenum">
              <a:t>‹#›</a:t>
            </a:fld>
            <a:endParaRPr lang="en-US"/>
          </a:p>
        </p:txBody>
      </p:sp>
    </p:spTree>
    <p:extLst>
      <p:ext uri="{BB962C8B-B14F-4D97-AF65-F5344CB8AC3E}">
        <p14:creationId xmlns:p14="http://schemas.microsoft.com/office/powerpoint/2010/main" val="356932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Calibri"/>
              <a:buChar char="-"/>
            </a:pPr>
            <a:r>
              <a:rPr lang="en-US" dirty="0">
                <a:ea typeface="Calibri"/>
                <a:cs typeface="Calibri"/>
              </a:rPr>
              <a:t>Sequencing output are </a:t>
            </a:r>
            <a:r>
              <a:rPr lang="en-US" dirty="0" err="1">
                <a:ea typeface="Calibri"/>
                <a:cs typeface="Calibri"/>
              </a:rPr>
              <a:t>fastq</a:t>
            </a:r>
            <a:r>
              <a:rPr lang="en-US" dirty="0">
                <a:ea typeface="Calibri"/>
                <a:cs typeface="Calibri"/>
              </a:rPr>
              <a:t> files with sequence DNA and Quality Score (reads)</a:t>
            </a:r>
          </a:p>
          <a:p>
            <a:pPr marL="171450" indent="-171450">
              <a:buFont typeface="Calibri"/>
              <a:buChar char="-"/>
            </a:pPr>
            <a:r>
              <a:rPr lang="en-US" dirty="0">
                <a:ea typeface="Calibri"/>
                <a:cs typeface="Calibri"/>
              </a:rPr>
              <a:t>In amplicon metagenomics, those reads are processed with dada2, through multiple steps from (1) Quality Control, Trimming and filtering until (8) Taxonomy assignment</a:t>
            </a:r>
          </a:p>
          <a:p>
            <a:pPr marL="171450" indent="-171450">
              <a:buFont typeface="Calibri"/>
              <a:buChar char="-"/>
            </a:pPr>
            <a:r>
              <a:rPr lang="en-US" dirty="0">
                <a:ea typeface="Calibri"/>
                <a:cs typeface="Calibri"/>
              </a:rPr>
              <a:t>The results of this process is sequence table with sample in column and ASV as rows </a:t>
            </a:r>
          </a:p>
          <a:p>
            <a:pPr marL="171450" indent="-171450">
              <a:buFont typeface="Calibri"/>
              <a:buChar char="-"/>
            </a:pPr>
            <a:r>
              <a:rPr lang="en-US" dirty="0">
                <a:ea typeface="Calibri"/>
                <a:cs typeface="Calibri"/>
              </a:rPr>
              <a:t>Since the sequencing is continuous improving. The current sequencing machine give </a:t>
            </a:r>
            <a:r>
              <a:rPr lang="en-US" dirty="0" err="1">
                <a:ea typeface="Calibri"/>
                <a:cs typeface="Calibri"/>
              </a:rPr>
              <a:t>hgh</a:t>
            </a:r>
            <a:r>
              <a:rPr lang="en-US" dirty="0">
                <a:ea typeface="Calibri"/>
                <a:cs typeface="Calibri"/>
              </a:rPr>
              <a:t> quality data with increasing </a:t>
            </a:r>
            <a:r>
              <a:rPr lang="en-US" dirty="0" err="1">
                <a:ea typeface="Calibri"/>
                <a:cs typeface="Calibri"/>
              </a:rPr>
              <a:t>fastq</a:t>
            </a:r>
            <a:r>
              <a:rPr lang="en-US" dirty="0">
                <a:ea typeface="Calibri"/>
                <a:cs typeface="Calibri"/>
              </a:rPr>
              <a:t> file size </a:t>
            </a:r>
          </a:p>
          <a:p>
            <a:pPr marL="171450" indent="-171450">
              <a:buFont typeface="Calibri"/>
              <a:buChar char="-"/>
            </a:pPr>
            <a:r>
              <a:rPr lang="en-US" dirty="0">
                <a:ea typeface="Calibri"/>
                <a:cs typeface="Calibri"/>
              </a:rPr>
              <a:t>To solve this issue with size growing companies like Illumina and PacBio decide to perform a quality score compression, where we went from continuous quality score to binned quality score.</a:t>
            </a:r>
          </a:p>
          <a:p>
            <a:pPr marL="171450" indent="-171450">
              <a:buFont typeface="Calibri"/>
              <a:buChar char="-"/>
            </a:pPr>
            <a:r>
              <a:rPr lang="en-US" dirty="0">
                <a:ea typeface="Calibri"/>
                <a:cs typeface="Calibri"/>
              </a:rPr>
              <a:t>This binning of quality score add issue in the Learning error step of dada2, where we went from error plots with almost colinear error to error plots with this concave shape </a:t>
            </a:r>
          </a:p>
          <a:p>
            <a:pPr marL="171450" indent="-171450">
              <a:buFont typeface="Calibri"/>
              <a:buChar char="-"/>
            </a:pPr>
            <a:r>
              <a:rPr lang="en-US" dirty="0">
                <a:ea typeface="Calibri"/>
                <a:cs typeface="Calibri"/>
              </a:rPr>
              <a:t>Face of this issue two questions come in us head: (1) </a:t>
            </a:r>
            <a:r>
              <a:rPr lang="en-US" b="1" dirty="0">
                <a:solidFill>
                  <a:srgbClr val="FF0000"/>
                </a:solidFill>
              </a:rPr>
              <a:t>How can we reduce the data size while maintaining the same performance?</a:t>
            </a:r>
            <a:r>
              <a:rPr lang="en-US" dirty="0"/>
              <a:t> (2) </a:t>
            </a:r>
            <a:r>
              <a:rPr lang="en-US" b="1" dirty="0">
                <a:solidFill>
                  <a:srgbClr val="FF0000"/>
                </a:solidFill>
              </a:rPr>
              <a:t>Which error function performs best for this process?</a:t>
            </a:r>
            <a:endParaRPr lang="en-US" dirty="0">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71987ADD-6167-40A6-A5D2-88686D6E0E69}" type="slidenum">
              <a:t>3</a:t>
            </a:fld>
            <a:endParaRPr lang="en-US"/>
          </a:p>
        </p:txBody>
      </p:sp>
    </p:spTree>
    <p:extLst>
      <p:ext uri="{BB962C8B-B14F-4D97-AF65-F5344CB8AC3E}">
        <p14:creationId xmlns:p14="http://schemas.microsoft.com/office/powerpoint/2010/main" val="24908097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To answer those two questions, we used the following method :</a:t>
            </a:r>
          </a:p>
          <a:p>
            <a:pPr marL="171450" indent="-171450">
              <a:buFont typeface="Calibri"/>
              <a:buChar char="-"/>
            </a:pPr>
            <a:r>
              <a:rPr lang="en-US" dirty="0">
                <a:ea typeface="Calibri"/>
                <a:cs typeface="Calibri"/>
              </a:rPr>
              <a:t>Here we used 2 approaches :</a:t>
            </a:r>
          </a:p>
          <a:p>
            <a:pPr marL="628650" lvl="1" indent="-171450">
              <a:buFont typeface="Courier New"/>
              <a:buChar char="o"/>
            </a:pPr>
            <a:r>
              <a:rPr lang="en-US" dirty="0">
                <a:ea typeface="Calibri"/>
                <a:cs typeface="Calibri"/>
              </a:rPr>
              <a:t>Proportional read subsampling with the proportions 1% up to 50%</a:t>
            </a:r>
          </a:p>
          <a:p>
            <a:pPr marL="628650" lvl="1" indent="-171450">
              <a:buFont typeface="Courier New"/>
              <a:buChar char="o"/>
            </a:pPr>
            <a:r>
              <a:rPr lang="en-US" dirty="0">
                <a:ea typeface="Calibri"/>
                <a:cs typeface="Calibri"/>
              </a:rPr>
              <a:t>Subsampling to target number of bases with 10 thousands, 100 thousands, 1 million, 10 millions and 100 millions of bases</a:t>
            </a:r>
          </a:p>
          <a:p>
            <a:pPr marL="171450" indent="-171450">
              <a:buFont typeface="Calibri"/>
              <a:buChar char="-"/>
            </a:pPr>
            <a:r>
              <a:rPr lang="en-US" dirty="0">
                <a:ea typeface="Calibri"/>
                <a:cs typeface="Calibri"/>
              </a:rPr>
              <a:t>For the both approaches we apply Quality filtering and trimming</a:t>
            </a:r>
          </a:p>
          <a:p>
            <a:pPr marL="171450" indent="-171450">
              <a:buFont typeface="Calibri"/>
              <a:buChar char="-"/>
            </a:pPr>
            <a:r>
              <a:rPr lang="en-US" dirty="0">
                <a:ea typeface="Calibri"/>
                <a:cs typeface="Calibri"/>
              </a:rPr>
              <a:t>Then learning error with multiple error functions and for each error function the denoising </a:t>
            </a:r>
          </a:p>
          <a:p>
            <a:pPr marL="171450" indent="-171450">
              <a:buFont typeface="Calibri"/>
              <a:buChar char="-"/>
            </a:pPr>
            <a:r>
              <a:rPr lang="en-US" dirty="0">
                <a:ea typeface="Calibri"/>
                <a:cs typeface="Calibri"/>
              </a:rPr>
              <a:t>The results of these steps were RDS files with </a:t>
            </a:r>
            <a:r>
              <a:rPr lang="en-US" b="1" dirty="0">
                <a:ea typeface="Calibri"/>
                <a:cs typeface="Calibri"/>
              </a:rPr>
              <a:t>dada</a:t>
            </a:r>
            <a:r>
              <a:rPr lang="en-US" dirty="0">
                <a:ea typeface="Calibri"/>
                <a:cs typeface="Calibri"/>
              </a:rPr>
              <a:t> and </a:t>
            </a:r>
            <a:r>
              <a:rPr lang="en-US" b="1" dirty="0">
                <a:ea typeface="Calibri"/>
                <a:cs typeface="Calibri"/>
              </a:rPr>
              <a:t>error </a:t>
            </a:r>
            <a:r>
              <a:rPr lang="en-US" dirty="0">
                <a:ea typeface="Calibri"/>
                <a:cs typeface="Calibri"/>
              </a:rPr>
              <a:t>objects for each dataset and each approaches.</a:t>
            </a:r>
          </a:p>
          <a:p>
            <a:pPr marL="171450" indent="-171450">
              <a:buFont typeface="Calibri"/>
              <a:buChar char="-"/>
            </a:pPr>
            <a:r>
              <a:rPr lang="en-US" dirty="0">
                <a:ea typeface="Calibri"/>
                <a:cs typeface="Calibri"/>
              </a:rPr>
              <a:t>We then made data visualizations and analysis on resources performances, error distances to the full dataset and Taxonomy profiling </a:t>
            </a:r>
          </a:p>
        </p:txBody>
      </p:sp>
      <p:sp>
        <p:nvSpPr>
          <p:cNvPr id="4" name="Slide Number Placeholder 3"/>
          <p:cNvSpPr>
            <a:spLocks noGrp="1"/>
          </p:cNvSpPr>
          <p:nvPr>
            <p:ph type="sldNum" sz="quarter" idx="5"/>
          </p:nvPr>
        </p:nvSpPr>
        <p:spPr/>
        <p:txBody>
          <a:bodyPr/>
          <a:lstStyle/>
          <a:p>
            <a:fld id="{71987ADD-6167-40A6-A5D2-88686D6E0E69}" type="slidenum">
              <a:rPr lang="en-US"/>
              <a:t>4</a:t>
            </a:fld>
            <a:endParaRPr lang="en-US"/>
          </a:p>
        </p:txBody>
      </p:sp>
    </p:spTree>
    <p:extLst>
      <p:ext uri="{BB962C8B-B14F-4D97-AF65-F5344CB8AC3E}">
        <p14:creationId xmlns:p14="http://schemas.microsoft.com/office/powerpoint/2010/main" val="17697850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Calibri"/>
              <a:buChar char="-"/>
            </a:pPr>
            <a:r>
              <a:rPr lang="en-US" dirty="0">
                <a:ea typeface="Calibri"/>
                <a:cs typeface="Calibri"/>
              </a:rPr>
              <a:t>During this research project we used 9 datasets:</a:t>
            </a:r>
          </a:p>
          <a:p>
            <a:pPr marL="742950" lvl="1" indent="-285750">
              <a:buFont typeface="Courier New"/>
              <a:buChar char="o"/>
            </a:pPr>
            <a:r>
              <a:rPr lang="en-US" dirty="0">
                <a:ea typeface="Calibri"/>
                <a:cs typeface="Calibri"/>
              </a:rPr>
              <a:t>3 from the University of Bern and 6 from the University of Fribourg </a:t>
            </a:r>
          </a:p>
          <a:p>
            <a:pPr marL="742950" lvl="1" indent="-285750">
              <a:buFont typeface="Courier New"/>
              <a:buChar char="o"/>
            </a:pPr>
            <a:r>
              <a:rPr lang="en-US" dirty="0">
                <a:ea typeface="Calibri"/>
                <a:cs typeface="Calibri"/>
              </a:rPr>
              <a:t>1 dataset per university had non-binned quality </a:t>
            </a:r>
            <a:r>
              <a:rPr lang="en-US" dirty="0" err="1">
                <a:ea typeface="Calibri"/>
                <a:cs typeface="Calibri"/>
              </a:rPr>
              <a:t>sc</a:t>
            </a:r>
            <a:r>
              <a:rPr lang="en-US" dirty="0">
                <a:ea typeface="Calibri"/>
                <a:cs typeface="Calibri"/>
              </a:rPr>
              <a:t>ore </a:t>
            </a:r>
          </a:p>
          <a:p>
            <a:pPr marL="742950" lvl="1" indent="-285750">
              <a:buFont typeface="Courier New"/>
              <a:buChar char="o"/>
            </a:pPr>
            <a:r>
              <a:rPr lang="en-US" dirty="0">
                <a:ea typeface="Calibri"/>
                <a:cs typeface="Calibri"/>
              </a:rPr>
              <a:t>The datasets were generated using various sequencing machine, Libraries and Protocol </a:t>
            </a:r>
          </a:p>
        </p:txBody>
      </p:sp>
      <p:sp>
        <p:nvSpPr>
          <p:cNvPr id="4" name="Slide Number Placeholder 3"/>
          <p:cNvSpPr>
            <a:spLocks noGrp="1"/>
          </p:cNvSpPr>
          <p:nvPr>
            <p:ph type="sldNum" sz="quarter" idx="5"/>
          </p:nvPr>
        </p:nvSpPr>
        <p:spPr/>
        <p:txBody>
          <a:bodyPr/>
          <a:lstStyle/>
          <a:p>
            <a:fld id="{71987ADD-6167-40A6-A5D2-88686D6E0E69}" type="slidenum">
              <a:rPr lang="en-US"/>
              <a:t>5</a:t>
            </a:fld>
            <a:endParaRPr lang="en-US"/>
          </a:p>
        </p:txBody>
      </p:sp>
    </p:spTree>
    <p:extLst>
      <p:ext uri="{BB962C8B-B14F-4D97-AF65-F5344CB8AC3E}">
        <p14:creationId xmlns:p14="http://schemas.microsoft.com/office/powerpoint/2010/main" val="3764847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dirty="0"/>
              <a:t>Click to edit Master title style</a:t>
            </a:r>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fld id="{96DFF08F-DC6B-4601-B491-B0F83F6DD2DA}" type="datetimeFigureOut">
              <a:rPr lang="en-US" dirty="0"/>
              <a:t>10/19/26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78184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D62CEF3B-A037-46D0-B02C-1428F07E9383}" type="datetimeFigureOut">
              <a:rPr lang="en-US" dirty="0"/>
              <a:t>10/19/26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CE482DC-2269-4F26-9D2A-7E44B1A4CD85}" type="slidenum">
              <a:rPr lang="en-US" dirty="0"/>
              <a:t>‹#›</a:t>
            </a:fld>
            <a:endParaRPr lang="en-US" dirty="0"/>
          </a:p>
        </p:txBody>
      </p:sp>
    </p:spTree>
    <p:extLst>
      <p:ext uri="{BB962C8B-B14F-4D97-AF65-F5344CB8AC3E}">
        <p14:creationId xmlns:p14="http://schemas.microsoft.com/office/powerpoint/2010/main" val="2571920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dirty="0"/>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dirty="0"/>
              <a:t>10/19/26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4000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dirty="0"/>
              <a:t>Click to edit Master title style</a:t>
            </a:r>
          </a:p>
        </p:txBody>
      </p:sp>
      <p:sp>
        <p:nvSpPr>
          <p:cNvPr id="3" name="Content Placeholder 2"/>
          <p:cNvSpPr>
            <a:spLocks noGrp="1"/>
          </p:cNvSpPr>
          <p:nvPr>
            <p:ph sz="half" idx="1"/>
          </p:nvPr>
        </p:nvSpPr>
        <p:spPr>
          <a:xfrm>
            <a:off x="1097280" y="1845734"/>
            <a:ext cx="4937760" cy="402335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217920" y="1845735"/>
            <a:ext cx="4937760" cy="40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96DFF08F-DC6B-4601-B491-B0F83F6DD2DA}" type="datetimeFigureOut">
              <a:rPr lang="en-US" dirty="0"/>
              <a:t>10/19/26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474963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dirty="0"/>
              <a:t>Click to edit Master title style</a:t>
            </a:r>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96DFF08F-DC6B-4601-B491-B0F83F6DD2DA}" type="datetimeFigureOut">
              <a:rPr lang="en-US" dirty="0"/>
              <a:t>10/19/26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424525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96DFF08F-DC6B-4601-B491-B0F83F6DD2DA}" type="datetimeFigureOut">
              <a:rPr lang="en-US" dirty="0"/>
              <a:t>10/19/26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4140039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6DFF08F-DC6B-4601-B491-B0F83F6DD2DA}" type="datetimeFigureOut">
              <a:rPr lang="en-US" dirty="0"/>
              <a:pPr/>
              <a:t>10/19/26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322205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dirty="0"/>
              <a:t>Click to edit Master title style</a:t>
            </a:r>
          </a:p>
        </p:txBody>
      </p:sp>
      <p:sp>
        <p:nvSpPr>
          <p:cNvPr id="3" name="Content Placeholder 2"/>
          <p:cNvSpPr>
            <a:spLocks noGrp="1"/>
          </p:cNvSpPr>
          <p:nvPr>
            <p:ph idx="1"/>
          </p:nvPr>
        </p:nvSpPr>
        <p:spPr>
          <a:xfrm>
            <a:off x="4800600" y="731520"/>
            <a:ext cx="6492240" cy="5257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6DFF08F-DC6B-4601-B491-B0F83F6DD2DA}" type="datetimeFigureOut">
              <a:rPr lang="en-US" dirty="0"/>
              <a:pPr/>
              <a:t>10/19/26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26155993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dirty="0"/>
              <a:t>Click to edit Master title style</a:t>
            </a:r>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10/19/26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349961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6DFF08F-DC6B-4601-B491-B0F83F6DD2DA}" type="datetimeFigureOut">
              <a:rPr lang="en-US" dirty="0"/>
              <a:t>10/19/26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54907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6DFF08F-DC6B-4601-B491-B0F83F6DD2DA}" type="datetimeFigureOut">
              <a:rPr lang="en-US" dirty="0"/>
              <a:t>10/19/26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239016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6DFF08F-DC6B-4601-B491-B0F83F6DD2DA}" type="datetimeFigureOut">
              <a:rPr lang="en-US" dirty="0"/>
              <a:pPr/>
              <a:t>10/19/26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8824896"/>
      </p:ext>
    </p:extLst>
  </p:cSld>
  <p:clrMap bg1="lt1" tx1="dk1" bg2="lt2" tx2="dk2" accent1="accent1" accent2="accent2" accent3="accent3" accent4="accent4" accent5="accent5" accent6="accent6" hlink="hlink" folHlink="folHlink"/>
  <p:sldLayoutIdLst>
    <p:sldLayoutId id="2147484041" r:id="rId1"/>
    <p:sldLayoutId id="2147484042" r:id="rId2"/>
    <p:sldLayoutId id="2147484043" r:id="rId3"/>
    <p:sldLayoutId id="2147484044" r:id="rId4"/>
    <p:sldLayoutId id="2147484045" r:id="rId5"/>
    <p:sldLayoutId id="2147484046" r:id="rId6"/>
    <p:sldLayoutId id="2147484047" r:id="rId7"/>
    <p:sldLayoutId id="2147484048" r:id="rId8"/>
    <p:sldLayoutId id="2147484049" r:id="rId9"/>
    <p:sldLayoutId id="2147484050" r:id="rId10"/>
    <p:sldLayoutId id="214748405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912629" y="1371600"/>
            <a:ext cx="10792020" cy="2696866"/>
          </a:xfrm>
        </p:spPr>
        <p:txBody>
          <a:bodyPr>
            <a:normAutofit/>
          </a:bodyPr>
          <a:lstStyle/>
          <a:p>
            <a:pPr algn="ctr">
              <a:lnSpc>
                <a:spcPct val="80000"/>
              </a:lnSpc>
            </a:pPr>
            <a:r>
              <a:rPr lang="en-US" sz="6500" spc="-200" dirty="0">
                <a:latin typeface="Neue Haas Grotesk Text Pro"/>
              </a:rPr>
              <a:t>    </a:t>
            </a:r>
            <a:br>
              <a:rPr lang="en-US" sz="6500" spc="-200" dirty="0">
                <a:latin typeface="Neue Haas Grotesk Text Pro"/>
              </a:rPr>
            </a:br>
            <a:r>
              <a:rPr lang="en-US" sz="6500" spc="-200">
                <a:latin typeface="Neue Haas Grotesk Text Pro"/>
              </a:rPr>
              <a:t> </a:t>
            </a:r>
            <a:r>
              <a:rPr lang="en-US" sz="6500" cap="none" spc="-200">
                <a:latin typeface="Neue Haas Grotesk Text Pro"/>
              </a:rPr>
              <a:t>Benchmark of Error Correction </a:t>
            </a:r>
            <a:r>
              <a:rPr lang="en-US" sz="6500" spc="-200">
                <a:latin typeface="Neue Haas Grotesk Text Pro"/>
              </a:rPr>
              <a:t>Models</a:t>
            </a:r>
            <a:r>
              <a:rPr lang="en-US" sz="6500" cap="none" spc="-200">
                <a:latin typeface="Neue Haas Grotesk Text Pro"/>
              </a:rPr>
              <a:t> </a:t>
            </a:r>
            <a:endParaRPr lang="en-US" sz="6500" cap="none" spc="-200"/>
          </a:p>
        </p:txBody>
      </p:sp>
      <p:sp>
        <p:nvSpPr>
          <p:cNvPr id="3" name="Sous-titre 2"/>
          <p:cNvSpPr>
            <a:spLocks noGrp="1"/>
          </p:cNvSpPr>
          <p:nvPr>
            <p:ph type="subTitle" idx="1"/>
          </p:nvPr>
        </p:nvSpPr>
        <p:spPr>
          <a:xfrm>
            <a:off x="2507749" y="4371519"/>
            <a:ext cx="7327460" cy="1968607"/>
          </a:xfrm>
        </p:spPr>
        <p:txBody>
          <a:bodyPr vert="horz" lIns="91440" tIns="45720" rIns="91440" bIns="45720" rtlCol="0" anchor="t">
            <a:normAutofit/>
          </a:bodyPr>
          <a:lstStyle/>
          <a:p>
            <a:pPr algn="ctr"/>
            <a:r>
              <a:rPr lang="fr-FR"/>
              <a:t>Moise C.J. MEKA</a:t>
            </a:r>
            <a:endParaRPr lang="fr-FR" dirty="0"/>
          </a:p>
          <a:p>
            <a:pPr algn="ctr"/>
            <a:r>
              <a:rPr lang="en-US"/>
              <a:t>Supervised</a:t>
            </a:r>
            <a:r>
              <a:rPr lang="fr-FR" dirty="0"/>
              <a:t> by Laurent Falquet</a:t>
            </a:r>
          </a:p>
          <a:p>
            <a:pPr algn="ctr"/>
            <a:endParaRPr lang="fr-FR" dirty="0"/>
          </a:p>
          <a:p>
            <a:pPr algn="ctr"/>
            <a:r>
              <a:rPr lang="fr-FR" sz="1600"/>
              <a:t>21st October 2026</a:t>
            </a:r>
          </a:p>
        </p:txBody>
      </p:sp>
      <p:sp>
        <p:nvSpPr>
          <p:cNvPr id="4" name="Slide Number Placeholder 3">
            <a:extLst>
              <a:ext uri="{FF2B5EF4-FFF2-40B4-BE49-F238E27FC236}">
                <a16:creationId xmlns:a16="http://schemas.microsoft.com/office/drawing/2014/main" id="{270C21C5-B4BA-F009-05D5-4CD76F6B2B31}"/>
              </a:ext>
            </a:extLst>
          </p:cNvPr>
          <p:cNvSpPr>
            <a:spLocks noGrp="1"/>
          </p:cNvSpPr>
          <p:nvPr>
            <p:ph type="sldNum" sz="quarter" idx="12"/>
          </p:nvPr>
        </p:nvSpPr>
        <p:spPr/>
        <p:txBody>
          <a:bodyPr/>
          <a:lstStyle/>
          <a:p>
            <a:fld id="{CC057153-B650-4DEB-B370-79DDCFDCE934}" type="slidenum">
              <a:rPr lang="en-US" dirty="0"/>
              <a:t>1</a:t>
            </a:fld>
            <a:endParaRPr lang="en-US"/>
          </a:p>
        </p:txBody>
      </p:sp>
      <p:pic>
        <p:nvPicPr>
          <p:cNvPr id="5" name="Picture 4" descr="A DADA2 logo · Issue #352 · benjjneb/dada2">
            <a:extLst>
              <a:ext uri="{FF2B5EF4-FFF2-40B4-BE49-F238E27FC236}">
                <a16:creationId xmlns:a16="http://schemas.microsoft.com/office/drawing/2014/main" id="{2801E5DC-FAA6-7170-0911-96E2AFDDF0F6}"/>
              </a:ext>
            </a:extLst>
          </p:cNvPr>
          <p:cNvPicPr>
            <a:picLocks noChangeAspect="1"/>
          </p:cNvPicPr>
          <p:nvPr/>
        </p:nvPicPr>
        <p:blipFill>
          <a:blip r:embed="rId2"/>
          <a:stretch>
            <a:fillRect/>
          </a:stretch>
        </p:blipFill>
        <p:spPr>
          <a:xfrm>
            <a:off x="4886960" y="1536643"/>
            <a:ext cx="2570480" cy="706234"/>
          </a:xfrm>
          <a:prstGeom prst="rect">
            <a:avLst/>
          </a:prstGeom>
        </p:spPr>
      </p:pic>
    </p:spTree>
    <p:extLst>
      <p:ext uri="{BB962C8B-B14F-4D97-AF65-F5344CB8AC3E}">
        <p14:creationId xmlns:p14="http://schemas.microsoft.com/office/powerpoint/2010/main" val="3784089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796D8-96D1-C301-BC2F-05390F64B764}"/>
              </a:ext>
            </a:extLst>
          </p:cNvPr>
          <p:cNvSpPr>
            <a:spLocks noGrp="1"/>
          </p:cNvSpPr>
          <p:nvPr>
            <p:ph type="title"/>
          </p:nvPr>
        </p:nvSpPr>
        <p:spPr/>
        <p:txBody>
          <a:bodyPr/>
          <a:lstStyle/>
          <a:p>
            <a:r>
              <a:rPr lang="en-US" b="1">
                <a:ea typeface="Calibri Light"/>
                <a:cs typeface="Calibri Light"/>
              </a:rPr>
              <a:t>Outline</a:t>
            </a:r>
          </a:p>
        </p:txBody>
      </p:sp>
      <p:graphicFrame>
        <p:nvGraphicFramePr>
          <p:cNvPr id="4" name="Content Placeholder 2">
            <a:extLst>
              <a:ext uri="{FF2B5EF4-FFF2-40B4-BE49-F238E27FC236}">
                <a16:creationId xmlns:a16="http://schemas.microsoft.com/office/drawing/2014/main" id="{DA74DE1F-7218-4348-4FF7-D13DFB8B3AAC}"/>
              </a:ext>
            </a:extLst>
          </p:cNvPr>
          <p:cNvGraphicFramePr>
            <a:graphicFrameLocks noGrp="1"/>
          </p:cNvGraphicFramePr>
          <p:nvPr>
            <p:extLst>
              <p:ext uri="{D42A27DB-BD31-4B8C-83A1-F6EECF244321}">
                <p14:modId xmlns:p14="http://schemas.microsoft.com/office/powerpoint/2010/main" val="141336428"/>
              </p:ext>
            </p:extLst>
          </p:nvPr>
        </p:nvGraphicFramePr>
        <p:xfrm>
          <a:off x="916672" y="2105564"/>
          <a:ext cx="10119362" cy="37653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32683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2D9F7-7FE2-AFEE-3564-3C57D8AE8DDC}"/>
              </a:ext>
            </a:extLst>
          </p:cNvPr>
          <p:cNvSpPr>
            <a:spLocks noGrp="1"/>
          </p:cNvSpPr>
          <p:nvPr>
            <p:ph type="title"/>
          </p:nvPr>
        </p:nvSpPr>
        <p:spPr>
          <a:xfrm>
            <a:off x="1182765" y="496440"/>
            <a:ext cx="10363200" cy="1187570"/>
          </a:xfrm>
        </p:spPr>
        <p:txBody>
          <a:bodyPr/>
          <a:lstStyle/>
          <a:p>
            <a:r>
              <a:rPr lang="en-US" b="1"/>
              <a:t>Context</a:t>
            </a:r>
          </a:p>
        </p:txBody>
      </p:sp>
      <p:sp>
        <p:nvSpPr>
          <p:cNvPr id="4" name="Date Placeholder 3">
            <a:extLst>
              <a:ext uri="{FF2B5EF4-FFF2-40B4-BE49-F238E27FC236}">
                <a16:creationId xmlns:a16="http://schemas.microsoft.com/office/drawing/2014/main" id="{30558E62-62A3-5DEF-C086-24668B0455A9}"/>
              </a:ext>
            </a:extLst>
          </p:cNvPr>
          <p:cNvSpPr>
            <a:spLocks noGrp="1"/>
          </p:cNvSpPr>
          <p:nvPr>
            <p:ph type="dt" sz="half" idx="10"/>
          </p:nvPr>
        </p:nvSpPr>
        <p:spPr/>
        <p:txBody>
          <a:bodyPr/>
          <a:lstStyle/>
          <a:p>
            <a:fld id="{BBC26B67-AAB5-4300-8154-55534B8BD401}" type="datetime1">
              <a:rPr lang="en-US"/>
              <a:t>10/19/26</a:t>
            </a:fld>
            <a:endParaRPr lang="en-US" dirty="0"/>
          </a:p>
        </p:txBody>
      </p:sp>
      <p:sp>
        <p:nvSpPr>
          <p:cNvPr id="19" name="Slide Number Placeholder 18">
            <a:extLst>
              <a:ext uri="{FF2B5EF4-FFF2-40B4-BE49-F238E27FC236}">
                <a16:creationId xmlns:a16="http://schemas.microsoft.com/office/drawing/2014/main" id="{90FF240C-6C79-5710-E4A7-193CE79DE34F}"/>
              </a:ext>
            </a:extLst>
          </p:cNvPr>
          <p:cNvSpPr>
            <a:spLocks noGrp="1"/>
          </p:cNvSpPr>
          <p:nvPr>
            <p:ph type="sldNum" sz="quarter" idx="12"/>
          </p:nvPr>
        </p:nvSpPr>
        <p:spPr/>
        <p:txBody>
          <a:bodyPr/>
          <a:lstStyle/>
          <a:p>
            <a:fld id="{CC057153-B650-4DEB-B370-79DDCFDCE934}" type="slidenum">
              <a:rPr lang="en-US" dirty="0"/>
              <a:t>3</a:t>
            </a:fld>
            <a:endParaRPr lang="en-US"/>
          </a:p>
        </p:txBody>
      </p:sp>
      <p:pic>
        <p:nvPicPr>
          <p:cNvPr id="10" name="Picture 9" descr="A DADA2 logo · Issue #352 · benjjneb/dada2">
            <a:extLst>
              <a:ext uri="{FF2B5EF4-FFF2-40B4-BE49-F238E27FC236}">
                <a16:creationId xmlns:a16="http://schemas.microsoft.com/office/drawing/2014/main" id="{1C118412-A0B3-0BDD-7D93-6235922DEF51}"/>
              </a:ext>
            </a:extLst>
          </p:cNvPr>
          <p:cNvPicPr>
            <a:picLocks noChangeAspect="1"/>
          </p:cNvPicPr>
          <p:nvPr/>
        </p:nvPicPr>
        <p:blipFill>
          <a:blip r:embed="rId3"/>
          <a:stretch>
            <a:fillRect/>
          </a:stretch>
        </p:blipFill>
        <p:spPr>
          <a:xfrm>
            <a:off x="406400" y="3690563"/>
            <a:ext cx="2570480" cy="706234"/>
          </a:xfrm>
          <a:prstGeom prst="rect">
            <a:avLst/>
          </a:prstGeom>
        </p:spPr>
      </p:pic>
      <p:pic>
        <p:nvPicPr>
          <p:cNvPr id="11" name="Picture 10">
            <a:extLst>
              <a:ext uri="{FF2B5EF4-FFF2-40B4-BE49-F238E27FC236}">
                <a16:creationId xmlns:a16="http://schemas.microsoft.com/office/drawing/2014/main" id="{21C77A2C-B516-24BD-2B84-1AA600D80D90}"/>
              </a:ext>
            </a:extLst>
          </p:cNvPr>
          <p:cNvPicPr>
            <a:picLocks noChangeAspect="1"/>
          </p:cNvPicPr>
          <p:nvPr/>
        </p:nvPicPr>
        <p:blipFill>
          <a:blip r:embed="rId4"/>
          <a:srcRect r="32626" b="862"/>
          <a:stretch>
            <a:fillRect/>
          </a:stretch>
        </p:blipFill>
        <p:spPr>
          <a:xfrm>
            <a:off x="409892" y="2375853"/>
            <a:ext cx="2575927" cy="709291"/>
          </a:xfrm>
          <a:prstGeom prst="rect">
            <a:avLst/>
          </a:prstGeom>
        </p:spPr>
      </p:pic>
      <p:pic>
        <p:nvPicPr>
          <p:cNvPr id="3" name="Picture 2" descr="How can i prepare ASV table with the abundance and ASV? - Uncategorized -  Galaxy Community Help">
            <a:extLst>
              <a:ext uri="{FF2B5EF4-FFF2-40B4-BE49-F238E27FC236}">
                <a16:creationId xmlns:a16="http://schemas.microsoft.com/office/drawing/2014/main" id="{F8255C9B-2A16-F4E5-A84C-573DB121E988}"/>
              </a:ext>
            </a:extLst>
          </p:cNvPr>
          <p:cNvPicPr>
            <a:picLocks noChangeAspect="1"/>
          </p:cNvPicPr>
          <p:nvPr/>
        </p:nvPicPr>
        <p:blipFill>
          <a:blip r:embed="rId5"/>
          <a:stretch>
            <a:fillRect/>
          </a:stretch>
        </p:blipFill>
        <p:spPr>
          <a:xfrm>
            <a:off x="206692" y="4834573"/>
            <a:ext cx="2969895" cy="1141095"/>
          </a:xfrm>
          <a:prstGeom prst="rect">
            <a:avLst/>
          </a:prstGeom>
        </p:spPr>
      </p:pic>
      <p:sp>
        <p:nvSpPr>
          <p:cNvPr id="5" name="Arrow: Down 4">
            <a:extLst>
              <a:ext uri="{FF2B5EF4-FFF2-40B4-BE49-F238E27FC236}">
                <a16:creationId xmlns:a16="http://schemas.microsoft.com/office/drawing/2014/main" id="{E2A46335-9900-2528-B1CC-D0027E30E354}"/>
              </a:ext>
            </a:extLst>
          </p:cNvPr>
          <p:cNvSpPr/>
          <p:nvPr/>
        </p:nvSpPr>
        <p:spPr>
          <a:xfrm>
            <a:off x="1463172" y="3200663"/>
            <a:ext cx="231964" cy="37182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Down 5">
            <a:extLst>
              <a:ext uri="{FF2B5EF4-FFF2-40B4-BE49-F238E27FC236}">
                <a16:creationId xmlns:a16="http://schemas.microsoft.com/office/drawing/2014/main" id="{EA8FA434-92C3-30C8-7961-F80D88EB9474}"/>
              </a:ext>
            </a:extLst>
          </p:cNvPr>
          <p:cNvSpPr/>
          <p:nvPr/>
        </p:nvSpPr>
        <p:spPr>
          <a:xfrm>
            <a:off x="1463171" y="4460503"/>
            <a:ext cx="231964" cy="37182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eft Brace 6">
            <a:extLst>
              <a:ext uri="{FF2B5EF4-FFF2-40B4-BE49-F238E27FC236}">
                <a16:creationId xmlns:a16="http://schemas.microsoft.com/office/drawing/2014/main" id="{C6EAD706-45CF-63CF-0420-8C1A87A1AAF9}"/>
              </a:ext>
            </a:extLst>
          </p:cNvPr>
          <p:cNvSpPr/>
          <p:nvPr/>
        </p:nvSpPr>
        <p:spPr>
          <a:xfrm>
            <a:off x="2985135" y="3269614"/>
            <a:ext cx="619125" cy="1562100"/>
          </a:xfrm>
          <a:prstGeom prst="leftBrace">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1B418D0F-8D76-0AFF-1E90-6A786457D8D6}"/>
              </a:ext>
            </a:extLst>
          </p:cNvPr>
          <p:cNvSpPr txBox="1"/>
          <p:nvPr/>
        </p:nvSpPr>
        <p:spPr>
          <a:xfrm>
            <a:off x="3299459" y="3269615"/>
            <a:ext cx="3038475" cy="16268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(1) Quality Control, Trimming and Filtering</a:t>
            </a:r>
          </a:p>
          <a:p>
            <a:r>
              <a:rPr lang="en-US" sz="1200"/>
              <a:t>(2) Dereplicate</a:t>
            </a:r>
          </a:p>
          <a:p>
            <a:r>
              <a:rPr lang="en-US" sz="1200"/>
              <a:t>(3) </a:t>
            </a:r>
            <a:r>
              <a:rPr lang="en-US" sz="1200">
                <a:ea typeface="+mn-lt"/>
                <a:cs typeface="+mn-lt"/>
              </a:rPr>
              <a:t>Learn Error Rates</a:t>
            </a:r>
            <a:endParaRPr lang="en-US" sz="1200" dirty="0">
              <a:ea typeface="+mn-lt"/>
              <a:cs typeface="+mn-lt"/>
            </a:endParaRPr>
          </a:p>
          <a:p>
            <a:r>
              <a:rPr lang="en-US" sz="1200"/>
              <a:t>(4) Denoising</a:t>
            </a:r>
          </a:p>
          <a:p>
            <a:r>
              <a:rPr lang="en-US" sz="1200" dirty="0"/>
              <a:t>(5) </a:t>
            </a:r>
            <a:r>
              <a:rPr lang="en-US" sz="1200">
                <a:ea typeface="+mn-lt"/>
                <a:cs typeface="+mn-lt"/>
              </a:rPr>
              <a:t>Merge Paired Reads </a:t>
            </a:r>
            <a:endParaRPr lang="en-US" sz="1200" dirty="0">
              <a:ea typeface="+mn-lt"/>
              <a:cs typeface="+mn-lt"/>
            </a:endParaRPr>
          </a:p>
          <a:p>
            <a:r>
              <a:rPr lang="en-US" sz="1200">
                <a:ea typeface="+mn-lt"/>
                <a:cs typeface="+mn-lt"/>
              </a:rPr>
              <a:t>(6) Construct Sequence Table</a:t>
            </a:r>
            <a:endParaRPr lang="en-US" sz="1200" dirty="0">
              <a:ea typeface="+mn-lt"/>
              <a:cs typeface="+mn-lt"/>
            </a:endParaRPr>
          </a:p>
          <a:p>
            <a:r>
              <a:rPr lang="en-US" sz="1200">
                <a:ea typeface="+mn-lt"/>
                <a:cs typeface="+mn-lt"/>
              </a:rPr>
              <a:t>(7) Remove Chimeras</a:t>
            </a:r>
            <a:endParaRPr lang="en-US" sz="1200" dirty="0">
              <a:ea typeface="+mn-lt"/>
              <a:cs typeface="+mn-lt"/>
            </a:endParaRPr>
          </a:p>
          <a:p>
            <a:r>
              <a:rPr lang="en-US" sz="1200">
                <a:ea typeface="+mn-lt"/>
                <a:cs typeface="+mn-lt"/>
              </a:rPr>
              <a:t>(8) Assign Taxonomy</a:t>
            </a:r>
            <a:endParaRPr lang="en-US" sz="1200" dirty="0">
              <a:ea typeface="+mn-lt"/>
              <a:cs typeface="+mn-lt"/>
            </a:endParaRPr>
          </a:p>
        </p:txBody>
      </p:sp>
      <p:pic>
        <p:nvPicPr>
          <p:cNvPr id="12" name="Picture 11">
            <a:extLst>
              <a:ext uri="{FF2B5EF4-FFF2-40B4-BE49-F238E27FC236}">
                <a16:creationId xmlns:a16="http://schemas.microsoft.com/office/drawing/2014/main" id="{3D8E4637-157B-81D7-E992-6D4EE77AF9C0}"/>
              </a:ext>
            </a:extLst>
          </p:cNvPr>
          <p:cNvPicPr>
            <a:picLocks noChangeAspect="1"/>
          </p:cNvPicPr>
          <p:nvPr/>
        </p:nvPicPr>
        <p:blipFill>
          <a:blip r:embed="rId6"/>
          <a:stretch>
            <a:fillRect/>
          </a:stretch>
        </p:blipFill>
        <p:spPr>
          <a:xfrm>
            <a:off x="9002373" y="4188455"/>
            <a:ext cx="2536257" cy="2129138"/>
          </a:xfrm>
          <a:prstGeom prst="rect">
            <a:avLst/>
          </a:prstGeom>
        </p:spPr>
      </p:pic>
      <p:pic>
        <p:nvPicPr>
          <p:cNvPr id="13" name="Picture 12">
            <a:extLst>
              <a:ext uri="{FF2B5EF4-FFF2-40B4-BE49-F238E27FC236}">
                <a16:creationId xmlns:a16="http://schemas.microsoft.com/office/drawing/2014/main" id="{184835D8-4882-F586-74DA-9013E43D55F0}"/>
              </a:ext>
            </a:extLst>
          </p:cNvPr>
          <p:cNvPicPr>
            <a:picLocks noChangeAspect="1"/>
          </p:cNvPicPr>
          <p:nvPr/>
        </p:nvPicPr>
        <p:blipFill>
          <a:blip r:embed="rId7"/>
          <a:stretch>
            <a:fillRect/>
          </a:stretch>
        </p:blipFill>
        <p:spPr>
          <a:xfrm>
            <a:off x="6096323" y="4185623"/>
            <a:ext cx="2451030" cy="2119924"/>
          </a:xfrm>
          <a:prstGeom prst="rect">
            <a:avLst/>
          </a:prstGeom>
        </p:spPr>
      </p:pic>
      <p:sp>
        <p:nvSpPr>
          <p:cNvPr id="14" name="Frame 13">
            <a:extLst>
              <a:ext uri="{FF2B5EF4-FFF2-40B4-BE49-F238E27FC236}">
                <a16:creationId xmlns:a16="http://schemas.microsoft.com/office/drawing/2014/main" id="{F6C8DC29-A3B9-6E08-B4D7-5EAC2C4E6D3F}"/>
              </a:ext>
            </a:extLst>
          </p:cNvPr>
          <p:cNvSpPr/>
          <p:nvPr/>
        </p:nvSpPr>
        <p:spPr>
          <a:xfrm>
            <a:off x="3345792" y="3643585"/>
            <a:ext cx="1672897" cy="245241"/>
          </a:xfrm>
          <a:prstGeom prst="frame">
            <a:avLst/>
          </a:prstGeom>
          <a:solidFill>
            <a:schemeClr val="accent5">
              <a:lumMod val="75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7" name="Picture 16">
            <a:extLst>
              <a:ext uri="{FF2B5EF4-FFF2-40B4-BE49-F238E27FC236}">
                <a16:creationId xmlns:a16="http://schemas.microsoft.com/office/drawing/2014/main" id="{595DD26D-1D8C-3FCD-F809-F80B052BBF28}"/>
              </a:ext>
            </a:extLst>
          </p:cNvPr>
          <p:cNvPicPr>
            <a:picLocks noChangeAspect="1"/>
          </p:cNvPicPr>
          <p:nvPr/>
        </p:nvPicPr>
        <p:blipFill>
          <a:blip r:embed="rId8"/>
          <a:stretch>
            <a:fillRect/>
          </a:stretch>
        </p:blipFill>
        <p:spPr>
          <a:xfrm>
            <a:off x="5753529" y="1072534"/>
            <a:ext cx="6155933" cy="3067940"/>
          </a:xfrm>
          <a:prstGeom prst="rect">
            <a:avLst/>
          </a:prstGeom>
        </p:spPr>
      </p:pic>
      <p:pic>
        <p:nvPicPr>
          <p:cNvPr id="16" name="Picture 15" descr="PacBio – Vega, HiFi Long-Read Benchtop Sequencer - All Products | DKSH  Technology">
            <a:extLst>
              <a:ext uri="{FF2B5EF4-FFF2-40B4-BE49-F238E27FC236}">
                <a16:creationId xmlns:a16="http://schemas.microsoft.com/office/drawing/2014/main" id="{B5ECCEE8-5852-F88B-1F63-EA59F82936A6}"/>
              </a:ext>
            </a:extLst>
          </p:cNvPr>
          <p:cNvPicPr>
            <a:picLocks noChangeAspect="1"/>
          </p:cNvPicPr>
          <p:nvPr/>
        </p:nvPicPr>
        <p:blipFill>
          <a:blip r:embed="rId9"/>
          <a:stretch>
            <a:fillRect/>
          </a:stretch>
        </p:blipFill>
        <p:spPr>
          <a:xfrm>
            <a:off x="10116712" y="1807929"/>
            <a:ext cx="1591882" cy="1895149"/>
          </a:xfrm>
          <a:prstGeom prst="rect">
            <a:avLst/>
          </a:prstGeom>
        </p:spPr>
      </p:pic>
      <p:pic>
        <p:nvPicPr>
          <p:cNvPr id="15" name="Picture 14" descr="PacBio Revio Long-Read Sequencer - Genomics Research and Technology Hub  (GRT Hub)">
            <a:extLst>
              <a:ext uri="{FF2B5EF4-FFF2-40B4-BE49-F238E27FC236}">
                <a16:creationId xmlns:a16="http://schemas.microsoft.com/office/drawing/2014/main" id="{12BC2C5D-0520-CE36-E819-F70DFBB9B7D1}"/>
              </a:ext>
            </a:extLst>
          </p:cNvPr>
          <p:cNvPicPr>
            <a:picLocks noChangeAspect="1"/>
          </p:cNvPicPr>
          <p:nvPr/>
        </p:nvPicPr>
        <p:blipFill>
          <a:blip r:embed="rId10"/>
          <a:stretch>
            <a:fillRect/>
          </a:stretch>
        </p:blipFill>
        <p:spPr>
          <a:xfrm>
            <a:off x="8775437" y="1951395"/>
            <a:ext cx="1343246" cy="1521812"/>
          </a:xfrm>
          <a:prstGeom prst="rect">
            <a:avLst/>
          </a:prstGeom>
        </p:spPr>
      </p:pic>
      <p:pic>
        <p:nvPicPr>
          <p:cNvPr id="18" name="Picture 17" descr="Order the NovaSeq X Series">
            <a:extLst>
              <a:ext uri="{FF2B5EF4-FFF2-40B4-BE49-F238E27FC236}">
                <a16:creationId xmlns:a16="http://schemas.microsoft.com/office/drawing/2014/main" id="{06C08436-AC81-E904-53ED-595EF1166373}"/>
              </a:ext>
            </a:extLst>
          </p:cNvPr>
          <p:cNvPicPr>
            <a:picLocks noChangeAspect="1"/>
          </p:cNvPicPr>
          <p:nvPr/>
        </p:nvPicPr>
        <p:blipFill>
          <a:blip r:embed="rId11"/>
          <a:srcRect l="27754" t="4878" r="25222" b="-67"/>
          <a:stretch>
            <a:fillRect/>
          </a:stretch>
        </p:blipFill>
        <p:spPr>
          <a:xfrm>
            <a:off x="7414517" y="1891763"/>
            <a:ext cx="1673684" cy="1802071"/>
          </a:xfrm>
          <a:prstGeom prst="rect">
            <a:avLst/>
          </a:prstGeom>
        </p:spPr>
      </p:pic>
      <p:sp>
        <p:nvSpPr>
          <p:cNvPr id="20" name="TextBox 19">
            <a:extLst>
              <a:ext uri="{FF2B5EF4-FFF2-40B4-BE49-F238E27FC236}">
                <a16:creationId xmlns:a16="http://schemas.microsoft.com/office/drawing/2014/main" id="{9BB9565B-039C-611C-42FB-0EC748741D8A}"/>
              </a:ext>
            </a:extLst>
          </p:cNvPr>
          <p:cNvSpPr txBox="1"/>
          <p:nvPr/>
        </p:nvSpPr>
        <p:spPr>
          <a:xfrm>
            <a:off x="845997" y="5352492"/>
            <a:ext cx="1062744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solidFill>
                  <a:srgbClr val="FF0000"/>
                </a:solidFill>
                <a:ea typeface="+mn-lt"/>
                <a:cs typeface="+mn-lt"/>
              </a:rPr>
              <a:t>How can we reduce the data size while maintaining the same performance?</a:t>
            </a:r>
            <a:endParaRPr lang="en-US"/>
          </a:p>
        </p:txBody>
      </p:sp>
      <p:sp>
        <p:nvSpPr>
          <p:cNvPr id="22" name="TextBox 21">
            <a:extLst>
              <a:ext uri="{FF2B5EF4-FFF2-40B4-BE49-F238E27FC236}">
                <a16:creationId xmlns:a16="http://schemas.microsoft.com/office/drawing/2014/main" id="{F6461E21-356D-F311-EC87-B26DFF6A79D2}"/>
              </a:ext>
            </a:extLst>
          </p:cNvPr>
          <p:cNvSpPr txBox="1"/>
          <p:nvPr/>
        </p:nvSpPr>
        <p:spPr>
          <a:xfrm>
            <a:off x="1567891" y="5813703"/>
            <a:ext cx="990555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solidFill>
                  <a:srgbClr val="FF0000"/>
                </a:solidFill>
                <a:ea typeface="+mn-lt"/>
                <a:cs typeface="+mn-lt"/>
              </a:rPr>
              <a:t>Which error function performs best for this process?</a:t>
            </a:r>
            <a:endParaRPr lang="en-US"/>
          </a:p>
        </p:txBody>
      </p:sp>
    </p:spTree>
    <p:extLst>
      <p:ext uri="{BB962C8B-B14F-4D97-AF65-F5344CB8AC3E}">
        <p14:creationId xmlns:p14="http://schemas.microsoft.com/office/powerpoint/2010/main" val="2019655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p:bldP spid="14" grpId="0" animBg="1"/>
      <p:bldP spid="20" grpId="0"/>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CB206-4E89-318E-6F3E-E185E1789C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1829CB-AAF3-3E93-6CC2-8062E7C5957A}"/>
              </a:ext>
            </a:extLst>
          </p:cNvPr>
          <p:cNvSpPr>
            <a:spLocks noGrp="1"/>
          </p:cNvSpPr>
          <p:nvPr>
            <p:ph type="title"/>
          </p:nvPr>
        </p:nvSpPr>
        <p:spPr/>
        <p:txBody>
          <a:bodyPr>
            <a:normAutofit/>
          </a:bodyPr>
          <a:lstStyle/>
          <a:p>
            <a:r>
              <a:rPr lang="en-US" b="1"/>
              <a:t>Method (1/2)</a:t>
            </a:r>
            <a:endParaRPr lang="en-US" b="1" dirty="0"/>
          </a:p>
        </p:txBody>
      </p:sp>
      <p:sp>
        <p:nvSpPr>
          <p:cNvPr id="4" name="Date Placeholder 3">
            <a:extLst>
              <a:ext uri="{FF2B5EF4-FFF2-40B4-BE49-F238E27FC236}">
                <a16:creationId xmlns:a16="http://schemas.microsoft.com/office/drawing/2014/main" id="{3D28B2D3-B6CD-F78E-1846-E9305B93894C}"/>
              </a:ext>
            </a:extLst>
          </p:cNvPr>
          <p:cNvSpPr>
            <a:spLocks noGrp="1"/>
          </p:cNvSpPr>
          <p:nvPr>
            <p:ph type="dt" sz="half" idx="10"/>
          </p:nvPr>
        </p:nvSpPr>
        <p:spPr/>
        <p:txBody>
          <a:bodyPr anchor="ctr">
            <a:normAutofit/>
          </a:bodyPr>
          <a:lstStyle/>
          <a:p>
            <a:pPr>
              <a:spcAft>
                <a:spcPts val="600"/>
              </a:spcAft>
            </a:pPr>
            <a:fld id="{BBC26B67-AAB5-4300-8154-55534B8BD401}" type="datetime1">
              <a:rPr lang="en-US"/>
              <a:pPr>
                <a:spcAft>
                  <a:spcPts val="600"/>
                </a:spcAft>
              </a:pPr>
              <a:t>10/19/26</a:t>
            </a:fld>
            <a:endParaRPr lang="en-US"/>
          </a:p>
        </p:txBody>
      </p:sp>
      <p:sp>
        <p:nvSpPr>
          <p:cNvPr id="9" name="Slide Number Placeholder 8">
            <a:extLst>
              <a:ext uri="{FF2B5EF4-FFF2-40B4-BE49-F238E27FC236}">
                <a16:creationId xmlns:a16="http://schemas.microsoft.com/office/drawing/2014/main" id="{F2263268-27E9-7F41-CEFE-FFE892E9DF06}"/>
              </a:ext>
            </a:extLst>
          </p:cNvPr>
          <p:cNvSpPr>
            <a:spLocks noGrp="1"/>
          </p:cNvSpPr>
          <p:nvPr>
            <p:ph type="sldNum" sz="quarter" idx="12"/>
          </p:nvPr>
        </p:nvSpPr>
        <p:spPr/>
        <p:txBody>
          <a:bodyPr/>
          <a:lstStyle/>
          <a:p>
            <a:fld id="{CC057153-B650-4DEB-B370-79DDCFDCE934}" type="slidenum">
              <a:rPr lang="en-US" dirty="0"/>
              <a:t>4</a:t>
            </a:fld>
            <a:endParaRPr lang="en-US"/>
          </a:p>
        </p:txBody>
      </p:sp>
      <p:pic>
        <p:nvPicPr>
          <p:cNvPr id="7" name="Picture 6">
            <a:extLst>
              <a:ext uri="{FF2B5EF4-FFF2-40B4-BE49-F238E27FC236}">
                <a16:creationId xmlns:a16="http://schemas.microsoft.com/office/drawing/2014/main" id="{D5EE1794-5134-FEC9-C540-2823C3248FC8}"/>
              </a:ext>
            </a:extLst>
          </p:cNvPr>
          <p:cNvPicPr>
            <a:picLocks noChangeAspect="1"/>
          </p:cNvPicPr>
          <p:nvPr/>
        </p:nvPicPr>
        <p:blipFill>
          <a:blip r:embed="rId3"/>
          <a:stretch>
            <a:fillRect/>
          </a:stretch>
        </p:blipFill>
        <p:spPr>
          <a:xfrm>
            <a:off x="2021840" y="2111508"/>
            <a:ext cx="8950960" cy="4250424"/>
          </a:xfrm>
          <a:prstGeom prst="rect">
            <a:avLst/>
          </a:prstGeom>
        </p:spPr>
      </p:pic>
      <p:sp>
        <p:nvSpPr>
          <p:cNvPr id="5" name="TextBox 4">
            <a:extLst>
              <a:ext uri="{FF2B5EF4-FFF2-40B4-BE49-F238E27FC236}">
                <a16:creationId xmlns:a16="http://schemas.microsoft.com/office/drawing/2014/main" id="{E2ABBF9E-C16E-2204-4898-3E1FE6903F0F}"/>
              </a:ext>
            </a:extLst>
          </p:cNvPr>
          <p:cNvSpPr txBox="1"/>
          <p:nvPr/>
        </p:nvSpPr>
        <p:spPr>
          <a:xfrm>
            <a:off x="2613660" y="4853272"/>
            <a:ext cx="421640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b="1"/>
              <a:t>Proportional read subsampling:</a:t>
            </a:r>
            <a:r>
              <a:rPr lang="en-US" sz="1600" dirty="0"/>
              <a:t> </a:t>
            </a:r>
          </a:p>
          <a:p>
            <a:pPr lvl="1"/>
            <a:r>
              <a:rPr lang="en-US" sz="1600"/>
              <a:t>1%, 5%, 10%, 25%, 50%</a:t>
            </a:r>
            <a:endParaRPr lang="en-US" sz="1600" dirty="0"/>
          </a:p>
          <a:p>
            <a:pPr marL="285750" indent="-285750">
              <a:buFont typeface="Arial"/>
              <a:buChar char="•"/>
            </a:pPr>
            <a:r>
              <a:rPr lang="en-US" sz="1600" b="1"/>
              <a:t>Subsampling to target number of bases:</a:t>
            </a:r>
            <a:r>
              <a:rPr lang="en-US" sz="1600" dirty="0"/>
              <a:t> </a:t>
            </a:r>
          </a:p>
          <a:p>
            <a:pPr lvl="1"/>
            <a:r>
              <a:rPr lang="en-US" sz="1600"/>
              <a:t>1e+04, 1e+05, 1e+06, 1e+07, 1e+08</a:t>
            </a:r>
            <a:endParaRPr lang="en-US" sz="1600" dirty="0"/>
          </a:p>
        </p:txBody>
      </p:sp>
      <p:sp>
        <p:nvSpPr>
          <p:cNvPr id="8" name="Arrow: Down 7">
            <a:extLst>
              <a:ext uri="{FF2B5EF4-FFF2-40B4-BE49-F238E27FC236}">
                <a16:creationId xmlns:a16="http://schemas.microsoft.com/office/drawing/2014/main" id="{C89D3F3B-6EE3-B3BF-076B-E9F6961BCE74}"/>
              </a:ext>
            </a:extLst>
          </p:cNvPr>
          <p:cNvSpPr/>
          <p:nvPr/>
        </p:nvSpPr>
        <p:spPr>
          <a:xfrm>
            <a:off x="4361447" y="4451683"/>
            <a:ext cx="150394" cy="421105"/>
          </a:xfrm>
          <a:prstGeom prst="downArrow">
            <a:avLst/>
          </a:prstGeom>
          <a:solidFill>
            <a:schemeClr val="tx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16725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0373A-2DF8-247C-2849-8F79671442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B0C45-1EAA-0976-C912-12C39D724ECF}"/>
              </a:ext>
            </a:extLst>
          </p:cNvPr>
          <p:cNvSpPr>
            <a:spLocks noGrp="1"/>
          </p:cNvSpPr>
          <p:nvPr>
            <p:ph type="title"/>
          </p:nvPr>
        </p:nvSpPr>
        <p:spPr/>
        <p:txBody>
          <a:bodyPr>
            <a:normAutofit/>
          </a:bodyPr>
          <a:lstStyle/>
          <a:p>
            <a:r>
              <a:rPr lang="en-US" b="1"/>
              <a:t>Method (2/2)</a:t>
            </a:r>
            <a:endParaRPr lang="en-US"/>
          </a:p>
        </p:txBody>
      </p:sp>
      <p:sp>
        <p:nvSpPr>
          <p:cNvPr id="4" name="Date Placeholder 3">
            <a:extLst>
              <a:ext uri="{FF2B5EF4-FFF2-40B4-BE49-F238E27FC236}">
                <a16:creationId xmlns:a16="http://schemas.microsoft.com/office/drawing/2014/main" id="{BEC34EC6-B8E2-3E3F-A3AD-2AEE25D1BCAB}"/>
              </a:ext>
            </a:extLst>
          </p:cNvPr>
          <p:cNvSpPr>
            <a:spLocks noGrp="1"/>
          </p:cNvSpPr>
          <p:nvPr>
            <p:ph type="dt" sz="half" idx="10"/>
          </p:nvPr>
        </p:nvSpPr>
        <p:spPr/>
        <p:txBody>
          <a:bodyPr anchor="ctr">
            <a:normAutofit/>
          </a:bodyPr>
          <a:lstStyle/>
          <a:p>
            <a:pPr>
              <a:spcAft>
                <a:spcPts val="600"/>
              </a:spcAft>
            </a:pPr>
            <a:fld id="{BBC26B67-AAB5-4300-8154-55534B8BD401}" type="datetime1">
              <a:rPr lang="en-US"/>
              <a:pPr>
                <a:spcAft>
                  <a:spcPts val="600"/>
                </a:spcAft>
              </a:pPr>
              <a:t>10/19/26</a:t>
            </a:fld>
            <a:endParaRPr lang="en-US"/>
          </a:p>
        </p:txBody>
      </p:sp>
      <p:sp>
        <p:nvSpPr>
          <p:cNvPr id="7" name="Slide Number Placeholder 6">
            <a:extLst>
              <a:ext uri="{FF2B5EF4-FFF2-40B4-BE49-F238E27FC236}">
                <a16:creationId xmlns:a16="http://schemas.microsoft.com/office/drawing/2014/main" id="{A13FCD68-3429-D021-4E2C-79EA52647D69}"/>
              </a:ext>
            </a:extLst>
          </p:cNvPr>
          <p:cNvSpPr>
            <a:spLocks noGrp="1"/>
          </p:cNvSpPr>
          <p:nvPr>
            <p:ph type="sldNum" sz="quarter" idx="12"/>
          </p:nvPr>
        </p:nvSpPr>
        <p:spPr/>
        <p:txBody>
          <a:bodyPr/>
          <a:lstStyle/>
          <a:p>
            <a:fld id="{CC057153-B650-4DEB-B370-79DDCFDCE934}" type="slidenum">
              <a:rPr lang="en-US" dirty="0"/>
              <a:t>5</a:t>
            </a:fld>
            <a:endParaRPr lang="en-US"/>
          </a:p>
        </p:txBody>
      </p:sp>
      <p:graphicFrame>
        <p:nvGraphicFramePr>
          <p:cNvPr id="5" name="Table 4">
            <a:extLst>
              <a:ext uri="{FF2B5EF4-FFF2-40B4-BE49-F238E27FC236}">
                <a16:creationId xmlns:a16="http://schemas.microsoft.com/office/drawing/2014/main" id="{C6A2B00C-7C75-3148-14A6-C2F3D10DBFF4}"/>
              </a:ext>
            </a:extLst>
          </p:cNvPr>
          <p:cNvGraphicFramePr>
            <a:graphicFrameLocks noGrp="1"/>
          </p:cNvGraphicFramePr>
          <p:nvPr>
            <p:extLst>
              <p:ext uri="{D42A27DB-BD31-4B8C-83A1-F6EECF244321}">
                <p14:modId xmlns:p14="http://schemas.microsoft.com/office/powerpoint/2010/main" val="3347454235"/>
              </p:ext>
            </p:extLst>
          </p:nvPr>
        </p:nvGraphicFramePr>
        <p:xfrm>
          <a:off x="262551" y="2647715"/>
          <a:ext cx="11780100" cy="3488833"/>
        </p:xfrm>
        <a:graphic>
          <a:graphicData uri="http://schemas.openxmlformats.org/drawingml/2006/table">
            <a:tbl>
              <a:tblPr firstRow="1" bandRow="1">
                <a:solidFill>
                  <a:schemeClr val="bg1"/>
                </a:solidFill>
                <a:tableStyleId>{5C22544A-7EE6-4342-B048-85BDC9FD1C3A}</a:tableStyleId>
              </a:tblPr>
              <a:tblGrid>
                <a:gridCol w="2238089">
                  <a:extLst>
                    <a:ext uri="{9D8B030D-6E8A-4147-A177-3AD203B41FA5}">
                      <a16:colId xmlns:a16="http://schemas.microsoft.com/office/drawing/2014/main" val="1804052554"/>
                    </a:ext>
                  </a:extLst>
                </a:gridCol>
                <a:gridCol w="739277">
                  <a:extLst>
                    <a:ext uri="{9D8B030D-6E8A-4147-A177-3AD203B41FA5}">
                      <a16:colId xmlns:a16="http://schemas.microsoft.com/office/drawing/2014/main" val="2802894939"/>
                    </a:ext>
                  </a:extLst>
                </a:gridCol>
                <a:gridCol w="830420">
                  <a:extLst>
                    <a:ext uri="{9D8B030D-6E8A-4147-A177-3AD203B41FA5}">
                      <a16:colId xmlns:a16="http://schemas.microsoft.com/office/drawing/2014/main" val="804174339"/>
                    </a:ext>
                  </a:extLst>
                </a:gridCol>
                <a:gridCol w="881056">
                  <a:extLst>
                    <a:ext uri="{9D8B030D-6E8A-4147-A177-3AD203B41FA5}">
                      <a16:colId xmlns:a16="http://schemas.microsoft.com/office/drawing/2014/main" val="3877863488"/>
                    </a:ext>
                  </a:extLst>
                </a:gridCol>
                <a:gridCol w="759532">
                  <a:extLst>
                    <a:ext uri="{9D8B030D-6E8A-4147-A177-3AD203B41FA5}">
                      <a16:colId xmlns:a16="http://schemas.microsoft.com/office/drawing/2014/main" val="2640633960"/>
                    </a:ext>
                  </a:extLst>
                </a:gridCol>
                <a:gridCol w="810114">
                  <a:extLst>
                    <a:ext uri="{9D8B030D-6E8A-4147-A177-3AD203B41FA5}">
                      <a16:colId xmlns:a16="http://schemas.microsoft.com/office/drawing/2014/main" val="3652296700"/>
                    </a:ext>
                  </a:extLst>
                </a:gridCol>
                <a:gridCol w="679743">
                  <a:extLst>
                    <a:ext uri="{9D8B030D-6E8A-4147-A177-3AD203B41FA5}">
                      <a16:colId xmlns:a16="http://schemas.microsoft.com/office/drawing/2014/main" val="2806924163"/>
                    </a:ext>
                  </a:extLst>
                </a:gridCol>
                <a:gridCol w="789912">
                  <a:extLst>
                    <a:ext uri="{9D8B030D-6E8A-4147-A177-3AD203B41FA5}">
                      <a16:colId xmlns:a16="http://schemas.microsoft.com/office/drawing/2014/main" val="1822652301"/>
                    </a:ext>
                  </a:extLst>
                </a:gridCol>
                <a:gridCol w="634722">
                  <a:extLst>
                    <a:ext uri="{9D8B030D-6E8A-4147-A177-3AD203B41FA5}">
                      <a16:colId xmlns:a16="http://schemas.microsoft.com/office/drawing/2014/main" val="4011672915"/>
                    </a:ext>
                  </a:extLst>
                </a:gridCol>
                <a:gridCol w="522226">
                  <a:extLst>
                    <a:ext uri="{9D8B030D-6E8A-4147-A177-3AD203B41FA5}">
                      <a16:colId xmlns:a16="http://schemas.microsoft.com/office/drawing/2014/main" val="3417287407"/>
                    </a:ext>
                  </a:extLst>
                </a:gridCol>
                <a:gridCol w="584455">
                  <a:extLst>
                    <a:ext uri="{9D8B030D-6E8A-4147-A177-3AD203B41FA5}">
                      <a16:colId xmlns:a16="http://schemas.microsoft.com/office/drawing/2014/main" val="639611918"/>
                    </a:ext>
                  </a:extLst>
                </a:gridCol>
                <a:gridCol w="522226">
                  <a:extLst>
                    <a:ext uri="{9D8B030D-6E8A-4147-A177-3AD203B41FA5}">
                      <a16:colId xmlns:a16="http://schemas.microsoft.com/office/drawing/2014/main" val="1439456950"/>
                    </a:ext>
                  </a:extLst>
                </a:gridCol>
                <a:gridCol w="886568">
                  <a:extLst>
                    <a:ext uri="{9D8B030D-6E8A-4147-A177-3AD203B41FA5}">
                      <a16:colId xmlns:a16="http://schemas.microsoft.com/office/drawing/2014/main" val="2723129610"/>
                    </a:ext>
                  </a:extLst>
                </a:gridCol>
                <a:gridCol w="901760">
                  <a:extLst>
                    <a:ext uri="{9D8B030D-6E8A-4147-A177-3AD203B41FA5}">
                      <a16:colId xmlns:a16="http://schemas.microsoft.com/office/drawing/2014/main" val="2447380361"/>
                    </a:ext>
                  </a:extLst>
                </a:gridCol>
              </a:tblGrid>
              <a:tr h="531703">
                <a:tc>
                  <a:txBody>
                    <a:bodyPr/>
                    <a:lstStyle/>
                    <a:p>
                      <a:pPr rtl="0" fontAlgn="ctr">
                        <a:buNone/>
                      </a:pPr>
                      <a:r>
                        <a:rPr lang="en-US" sz="800" b="0" cap="none" spc="0">
                          <a:solidFill>
                            <a:schemeClr val="bg1"/>
                          </a:solidFill>
                          <a:effectLst/>
                          <a:latin typeface="Roboto" panose="02000000000000000000" pitchFamily="2" charset="0"/>
                        </a:rPr>
                        <a:t>Dataset Name</a:t>
                      </a:r>
                    </a:p>
                  </a:txBody>
                  <a:tcPr marL="72084" marR="46208" marT="55449" marB="55449"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pPr rtl="0" fontAlgn="ctr">
                        <a:buNone/>
                      </a:pPr>
                      <a:r>
                        <a:rPr lang="en-US" sz="800" b="0" cap="none" spc="0">
                          <a:solidFill>
                            <a:schemeClr val="bg1"/>
                          </a:solidFill>
                          <a:effectLst/>
                          <a:latin typeface="Roboto" panose="02000000000000000000" pitchFamily="2" charset="0"/>
                        </a:rPr>
                        <a:t>Location</a:t>
                      </a:r>
                    </a:p>
                  </a:txBody>
                  <a:tcPr marL="72084" marR="46208" marT="55449" marB="55449"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rtl="0" fontAlgn="ctr">
                        <a:buNone/>
                      </a:pPr>
                      <a:r>
                        <a:rPr lang="en-US" sz="800" b="0" cap="none" spc="0">
                          <a:solidFill>
                            <a:schemeClr val="bg1"/>
                          </a:solidFill>
                          <a:effectLst/>
                          <a:latin typeface="Roboto" panose="02000000000000000000" pitchFamily="2" charset="0"/>
                        </a:rPr>
                        <a:t>Sequencer</a:t>
                      </a:r>
                    </a:p>
                  </a:txBody>
                  <a:tcPr marL="72084" marR="46208" marT="55449" marB="55449"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rtl="0" fontAlgn="ctr">
                        <a:buNone/>
                      </a:pPr>
                      <a:r>
                        <a:rPr lang="en-US" sz="800" b="0" cap="none" spc="0">
                          <a:solidFill>
                            <a:schemeClr val="bg1"/>
                          </a:solidFill>
                          <a:effectLst/>
                          <a:latin typeface="Roboto" panose="02000000000000000000" pitchFamily="2" charset="0"/>
                        </a:rPr>
                        <a:t>Binned Quality Score</a:t>
                      </a:r>
                    </a:p>
                  </a:txBody>
                  <a:tcPr marL="72084" marR="46208" marT="55449" marB="55449"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rtl="0" fontAlgn="ctr">
                        <a:buNone/>
                      </a:pPr>
                      <a:r>
                        <a:rPr lang="en-US" sz="800" b="0" cap="none" spc="0">
                          <a:solidFill>
                            <a:schemeClr val="bg1"/>
                          </a:solidFill>
                          <a:effectLst/>
                          <a:latin typeface="Roboto" panose="02000000000000000000" pitchFamily="2" charset="0"/>
                        </a:rPr>
                        <a:t>Library Type</a:t>
                      </a:r>
                    </a:p>
                  </a:txBody>
                  <a:tcPr marL="72084" marR="46208" marT="55449" marB="55449"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rtl="0" fontAlgn="ctr">
                        <a:buNone/>
                      </a:pPr>
                      <a:r>
                        <a:rPr lang="en-US" sz="800" b="0" cap="none" spc="0">
                          <a:solidFill>
                            <a:schemeClr val="bg1"/>
                          </a:solidFill>
                          <a:effectLst/>
                          <a:latin typeface="Roboto" panose="02000000000000000000" pitchFamily="2" charset="0"/>
                        </a:rPr>
                        <a:t>Segmentation</a:t>
                      </a:r>
                    </a:p>
                  </a:txBody>
                  <a:tcPr marL="72084" marR="46208" marT="55449" marB="55449"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rtl="0" fontAlgn="ctr">
                        <a:buNone/>
                      </a:pPr>
                      <a:r>
                        <a:rPr lang="en-US" sz="800" b="0" cap="none" spc="0">
                          <a:solidFill>
                            <a:schemeClr val="bg1"/>
                          </a:solidFill>
                          <a:effectLst/>
                          <a:latin typeface="Roboto" panose="02000000000000000000" pitchFamily="2" charset="0"/>
                        </a:rPr>
                        <a:t>Chemistry</a:t>
                      </a:r>
                    </a:p>
                  </a:txBody>
                  <a:tcPr marL="72084" marR="46208" marT="55449" marB="55449"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rtl="0" fontAlgn="ctr">
                        <a:buNone/>
                      </a:pPr>
                      <a:r>
                        <a:rPr lang="en-US" sz="800" b="0" cap="none" spc="0">
                          <a:solidFill>
                            <a:schemeClr val="bg1"/>
                          </a:solidFill>
                          <a:effectLst/>
                          <a:latin typeface="Roboto" panose="02000000000000000000" pitchFamily="2" charset="0"/>
                        </a:rPr>
                        <a:t>Total reads</a:t>
                      </a:r>
                    </a:p>
                  </a:txBody>
                  <a:tcPr marL="72084" marR="46208" marT="55449" marB="55449"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rtl="0" fontAlgn="ctr">
                        <a:buNone/>
                      </a:pPr>
                      <a:r>
                        <a:rPr lang="en-US" sz="800" b="0" cap="none" spc="0">
                          <a:solidFill>
                            <a:schemeClr val="bg1"/>
                          </a:solidFill>
                          <a:effectLst/>
                          <a:latin typeface="Roboto" panose="02000000000000000000" pitchFamily="2" charset="0"/>
                        </a:rPr>
                        <a:t>Sum reads length</a:t>
                      </a:r>
                    </a:p>
                  </a:txBody>
                  <a:tcPr marL="72084" marR="46208" marT="55449" marB="55449"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rtl="0" fontAlgn="ctr">
                        <a:buNone/>
                      </a:pPr>
                      <a:r>
                        <a:rPr lang="en-US" sz="800" b="0" cap="none" spc="0">
                          <a:solidFill>
                            <a:schemeClr val="bg1"/>
                          </a:solidFill>
                          <a:effectLst/>
                          <a:latin typeface="Roboto" panose="02000000000000000000" pitchFamily="2" charset="0"/>
                        </a:rPr>
                        <a:t>Min Length</a:t>
                      </a:r>
                    </a:p>
                  </a:txBody>
                  <a:tcPr marL="72084" marR="46208" marT="55449" marB="55449"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rtl="0" fontAlgn="ctr">
                        <a:buNone/>
                      </a:pPr>
                      <a:r>
                        <a:rPr lang="en-US" sz="800" b="0" cap="none" spc="0">
                          <a:solidFill>
                            <a:schemeClr val="bg1"/>
                          </a:solidFill>
                          <a:effectLst/>
                          <a:latin typeface="Roboto" panose="02000000000000000000" pitchFamily="2" charset="0"/>
                        </a:rPr>
                        <a:t>Average Length</a:t>
                      </a:r>
                    </a:p>
                  </a:txBody>
                  <a:tcPr marL="72084" marR="46208" marT="55449" marB="55449"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rtl="0" fontAlgn="ctr">
                        <a:buNone/>
                      </a:pPr>
                      <a:r>
                        <a:rPr lang="en-US" sz="800" b="0" cap="none" spc="0">
                          <a:solidFill>
                            <a:schemeClr val="bg1"/>
                          </a:solidFill>
                          <a:effectLst/>
                          <a:latin typeface="Roboto" panose="02000000000000000000" pitchFamily="2" charset="0"/>
                        </a:rPr>
                        <a:t>Max Length</a:t>
                      </a:r>
                    </a:p>
                  </a:txBody>
                  <a:tcPr marL="72084" marR="46208" marT="55449" marB="55449"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rtl="0" fontAlgn="ctr">
                        <a:buNone/>
                      </a:pPr>
                      <a:r>
                        <a:rPr lang="en-US" sz="800" b="0" cap="none" spc="0">
                          <a:solidFill>
                            <a:schemeClr val="bg1"/>
                          </a:solidFill>
                          <a:effectLst/>
                          <a:latin typeface="Roboto" panose="02000000000000000000" pitchFamily="2" charset="0"/>
                        </a:rPr>
                        <a:t>Total reads normalized</a:t>
                      </a:r>
                    </a:p>
                  </a:txBody>
                  <a:tcPr marL="72084" marR="46208" marT="55449" marB="55449"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rtl="0" fontAlgn="ctr">
                        <a:buNone/>
                      </a:pPr>
                      <a:r>
                        <a:rPr lang="en-US" sz="800" b="0" cap="none" spc="0">
                          <a:solidFill>
                            <a:schemeClr val="bg1"/>
                          </a:solidFill>
                          <a:effectLst/>
                          <a:latin typeface="Roboto" panose="02000000000000000000" pitchFamily="2" charset="0"/>
                        </a:rPr>
                        <a:t>Prop keep</a:t>
                      </a:r>
                    </a:p>
                  </a:txBody>
                  <a:tcPr marL="72084" marR="46208" marT="55449" marB="55449"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3961558460"/>
                  </a:ext>
                </a:extLst>
              </a:tr>
              <a:tr h="350441">
                <a:tc>
                  <a:txBody>
                    <a:bodyPr/>
                    <a:lstStyle/>
                    <a:p>
                      <a:pPr rtl="0" fontAlgn="ctr">
                        <a:buNone/>
                      </a:pPr>
                      <a:r>
                        <a:rPr lang="en-US" sz="800" b="0" cap="none" spc="0">
                          <a:solidFill>
                            <a:schemeClr val="tx1"/>
                          </a:solidFill>
                          <a:effectLst/>
                          <a:latin typeface="Roboto" panose="02000000000000000000" pitchFamily="2" charset="0"/>
                        </a:rPr>
                        <a:t>UniBe_Revio</a:t>
                      </a:r>
                    </a:p>
                  </a:txBody>
                  <a:tcPr marL="72084" marR="46208" marT="55449" marB="55449" anchor="ctr">
                    <a:lnL w="19050" cap="flat" cmpd="sng" algn="ctr">
                      <a:solidFill>
                        <a:schemeClr val="tx1"/>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Roboto" panose="02000000000000000000" pitchFamily="2" charset="0"/>
                        </a:rPr>
                        <a:t>UniBe</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Roboto" panose="02000000000000000000" pitchFamily="2" charset="0"/>
                        </a:rPr>
                        <a:t>Revio</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Roboto" panose="02000000000000000000" pitchFamily="2" charset="0"/>
                        </a:rPr>
                        <a:t>Yes</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rtl="0" fontAlgn="ctr">
                        <a:buNone/>
                      </a:pPr>
                      <a:endParaRPr lang="en-US" sz="800" cap="none" spc="0">
                        <a:solidFill>
                          <a:schemeClr val="tx1"/>
                        </a:solidFill>
                        <a:effectLst/>
                        <a:latin typeface="Arial" panose="020B0604020202020204" pitchFamily="34" charset="0"/>
                      </a:endParaRP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rtl="0" fontAlgn="ctr">
                        <a:buNone/>
                      </a:pPr>
                      <a:endParaRPr lang="en-US" sz="800" cap="none" spc="0">
                        <a:solidFill>
                          <a:schemeClr val="tx1"/>
                        </a:solidFill>
                        <a:effectLst/>
                        <a:latin typeface="Arial" panose="020B0604020202020204" pitchFamily="34" charset="0"/>
                      </a:endParaRP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rtl="0" fontAlgn="ctr">
                        <a:buNone/>
                      </a:pPr>
                      <a:endParaRPr lang="en-US" sz="800" cap="none" spc="0">
                        <a:solidFill>
                          <a:schemeClr val="tx1"/>
                        </a:solidFill>
                        <a:effectLst/>
                        <a:latin typeface="Arial" panose="020B0604020202020204" pitchFamily="34" charset="0"/>
                      </a:endParaRP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9236715</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13794617120</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96</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1493.5</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4527</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49373</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0,53%</a:t>
                      </a:r>
                    </a:p>
                  </a:txBody>
                  <a:tcPr marL="72084" marR="46208" marT="55449" marB="55449" anchor="ctr">
                    <a:lnL w="6350" cap="flat" cmpd="sng" algn="ctr">
                      <a:solidFill>
                        <a:schemeClr val="tx1">
                          <a:lumMod val="50000"/>
                          <a:lumOff val="50000"/>
                        </a:schemeClr>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845156809"/>
                  </a:ext>
                </a:extLst>
              </a:tr>
              <a:tr h="265851">
                <a:tc>
                  <a:txBody>
                    <a:bodyPr/>
                    <a:lstStyle/>
                    <a:p>
                      <a:pPr rtl="0" fontAlgn="ctr">
                        <a:buNone/>
                      </a:pPr>
                      <a:r>
                        <a:rPr lang="en-US" sz="800" b="0" cap="none" spc="0">
                          <a:solidFill>
                            <a:schemeClr val="tx1"/>
                          </a:solidFill>
                          <a:effectLst/>
                          <a:latin typeface="Roboto" panose="02000000000000000000" pitchFamily="2" charset="0"/>
                        </a:rPr>
                        <a:t>UniBe_Sequel</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Roboto" panose="02000000000000000000" pitchFamily="2" charset="0"/>
                        </a:rPr>
                        <a:t>UniBe</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Roboto" panose="02000000000000000000" pitchFamily="2" charset="0"/>
                        </a:rPr>
                        <a:t>Sequel</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Roboto" panose="02000000000000000000" pitchFamily="2" charset="0"/>
                        </a:rPr>
                        <a:t>No</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endParaRPr lang="en-US" sz="800" cap="none" spc="0">
                        <a:solidFill>
                          <a:schemeClr val="tx1"/>
                        </a:solidFill>
                        <a:effectLst/>
                        <a:latin typeface="Arial" panose="020B0604020202020204" pitchFamily="34" charset="0"/>
                      </a:endParaRP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endParaRPr lang="en-US" sz="800" cap="none" spc="0">
                        <a:solidFill>
                          <a:schemeClr val="tx1"/>
                        </a:solidFill>
                        <a:effectLst/>
                        <a:latin typeface="Arial" panose="020B0604020202020204" pitchFamily="34" charset="0"/>
                      </a:endParaRP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endParaRPr lang="en-US" sz="800" cap="none" spc="0">
                        <a:solidFill>
                          <a:schemeClr val="tx1"/>
                        </a:solidFill>
                        <a:effectLst/>
                        <a:latin typeface="Arial" panose="020B0604020202020204" pitchFamily="34" charset="0"/>
                      </a:endParaRP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49373</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74723118</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328</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1513.4</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3107</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49373</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100,00%</a:t>
                      </a:r>
                    </a:p>
                  </a:txBody>
                  <a:tcPr marL="72084" marR="46208" marT="55449" marB="55449"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2566793342"/>
                  </a:ext>
                </a:extLst>
              </a:tr>
              <a:tr h="350441">
                <a:tc>
                  <a:txBody>
                    <a:bodyPr/>
                    <a:lstStyle/>
                    <a:p>
                      <a:pPr rtl="0" fontAlgn="ctr">
                        <a:buNone/>
                      </a:pPr>
                      <a:r>
                        <a:rPr lang="en-US" sz="800" b="0" cap="none" spc="0">
                          <a:solidFill>
                            <a:schemeClr val="tx1"/>
                          </a:solidFill>
                          <a:effectLst/>
                          <a:latin typeface="Roboto" panose="02000000000000000000" pitchFamily="2" charset="0"/>
                        </a:rPr>
                        <a:t>UniBe_Vega</a:t>
                      </a:r>
                    </a:p>
                  </a:txBody>
                  <a:tcPr marL="72084" marR="46208" marT="55449" marB="55449"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Roboto" panose="02000000000000000000" pitchFamily="2" charset="0"/>
                        </a:rPr>
                        <a:t>UniBe</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Roboto" panose="02000000000000000000" pitchFamily="2" charset="0"/>
                        </a:rPr>
                        <a:t>Vega</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Yes</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Kinnex</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endParaRPr lang="en-US" sz="800" cap="none" spc="0">
                        <a:solidFill>
                          <a:schemeClr val="tx1"/>
                        </a:solidFill>
                        <a:effectLst/>
                        <a:latin typeface="Arial" panose="020B0604020202020204" pitchFamily="34" charset="0"/>
                      </a:endParaRP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endParaRPr lang="en-US" sz="800" cap="none" spc="0">
                        <a:solidFill>
                          <a:schemeClr val="tx1"/>
                        </a:solidFill>
                        <a:effectLst/>
                        <a:latin typeface="Arial" panose="020B0604020202020204" pitchFamily="34" charset="0"/>
                      </a:endParaRP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36272836</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54747826494</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51</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1509.3</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14226</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49373</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0,14%</a:t>
                      </a:r>
                    </a:p>
                  </a:txBody>
                  <a:tcPr marL="72084" marR="46208" marT="55449" marB="55449"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394767930"/>
                  </a:ext>
                </a:extLst>
              </a:tr>
              <a:tr h="265851">
                <a:tc>
                  <a:txBody>
                    <a:bodyPr/>
                    <a:lstStyle/>
                    <a:p>
                      <a:pPr rtl="0" fontAlgn="ctr">
                        <a:buNone/>
                      </a:pPr>
                      <a:r>
                        <a:rPr lang="en-US" sz="800" b="0" cap="none" spc="0">
                          <a:solidFill>
                            <a:schemeClr val="tx1"/>
                          </a:solidFill>
                          <a:effectLst/>
                          <a:latin typeface="Roboto" panose="02000000000000000000" pitchFamily="2" charset="0"/>
                        </a:rPr>
                        <a:t>UniL_Sequel2</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Roboto" panose="02000000000000000000" pitchFamily="2" charset="0"/>
                        </a:rPr>
                        <a:t>UniL</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Roboto" panose="02000000000000000000" pitchFamily="2" charset="0"/>
                        </a:rPr>
                        <a:t>Sequel2</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No</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Standard</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endParaRPr lang="en-US" sz="800" cap="none" spc="0">
                        <a:solidFill>
                          <a:schemeClr val="tx1"/>
                        </a:solidFill>
                        <a:effectLst/>
                        <a:latin typeface="Arial" panose="020B0604020202020204" pitchFamily="34" charset="0"/>
                      </a:endParaRP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Non SPRQ</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296860</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444180800</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432</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1496.3</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4631</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49373</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16,63%</a:t>
                      </a:r>
                    </a:p>
                  </a:txBody>
                  <a:tcPr marL="72084" marR="46208" marT="55449" marB="55449"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2156172033"/>
                  </a:ext>
                </a:extLst>
              </a:tr>
              <a:tr h="350441">
                <a:tc>
                  <a:txBody>
                    <a:bodyPr/>
                    <a:lstStyle/>
                    <a:p>
                      <a:pPr rtl="0" fontAlgn="ctr">
                        <a:buNone/>
                      </a:pPr>
                      <a:r>
                        <a:rPr lang="en-US" sz="800" b="0" cap="none" spc="0">
                          <a:solidFill>
                            <a:schemeClr val="tx1"/>
                          </a:solidFill>
                          <a:effectLst/>
                          <a:latin typeface="Roboto" panose="02000000000000000000" pitchFamily="2" charset="0"/>
                        </a:rPr>
                        <a:t>UniL_Revio-Standard-SPRQ</a:t>
                      </a:r>
                    </a:p>
                  </a:txBody>
                  <a:tcPr marL="72084" marR="46208" marT="55449" marB="55449"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Roboto" panose="02000000000000000000" pitchFamily="2" charset="0"/>
                        </a:rPr>
                        <a:t>UniL</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Roboto" panose="02000000000000000000" pitchFamily="2" charset="0"/>
                        </a:rPr>
                        <a:t>Revio</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Yes</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Standard</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endParaRPr lang="en-US" sz="800" cap="none" spc="0">
                        <a:solidFill>
                          <a:schemeClr val="tx1"/>
                        </a:solidFill>
                        <a:effectLst/>
                        <a:latin typeface="Arial" panose="020B0604020202020204" pitchFamily="34" charset="0"/>
                      </a:endParaRP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SPRQ</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1160968</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1779919750</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539</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1533.1</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6368</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49373</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4,25%</a:t>
                      </a:r>
                    </a:p>
                  </a:txBody>
                  <a:tcPr marL="72084" marR="46208" marT="55449" marB="55449"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868645590"/>
                  </a:ext>
                </a:extLst>
              </a:tr>
              <a:tr h="350441">
                <a:tc>
                  <a:txBody>
                    <a:bodyPr/>
                    <a:lstStyle/>
                    <a:p>
                      <a:pPr rtl="0" fontAlgn="ctr">
                        <a:buNone/>
                      </a:pPr>
                      <a:r>
                        <a:rPr lang="en-US" sz="800" b="0" cap="none" spc="0">
                          <a:solidFill>
                            <a:schemeClr val="tx1"/>
                          </a:solidFill>
                          <a:effectLst/>
                          <a:latin typeface="Roboto" panose="02000000000000000000" pitchFamily="2" charset="0"/>
                        </a:rPr>
                        <a:t>UniL_Revio-Standard-NON-SPRQ</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Roboto" panose="02000000000000000000" pitchFamily="2" charset="0"/>
                        </a:rPr>
                        <a:t>UniL</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Roboto" panose="02000000000000000000" pitchFamily="2" charset="0"/>
                        </a:rPr>
                        <a:t>Revio</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Yes </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Standard</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endParaRPr lang="en-US" sz="800" cap="none" spc="0">
                        <a:solidFill>
                          <a:schemeClr val="tx1"/>
                        </a:solidFill>
                        <a:effectLst/>
                        <a:latin typeface="Arial" panose="020B0604020202020204" pitchFamily="34" charset="0"/>
                      </a:endParaRP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Non SPRQ</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1730934</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2643585905</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274</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1527.3</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7765</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49373</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2,85%</a:t>
                      </a:r>
                    </a:p>
                  </a:txBody>
                  <a:tcPr marL="72084" marR="46208" marT="55449" marB="55449"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1720764501"/>
                  </a:ext>
                </a:extLst>
              </a:tr>
              <a:tr h="265851">
                <a:tc>
                  <a:txBody>
                    <a:bodyPr/>
                    <a:lstStyle/>
                    <a:p>
                      <a:pPr rtl="0" fontAlgn="ctr">
                        <a:buNone/>
                      </a:pPr>
                      <a:r>
                        <a:rPr lang="en-US" sz="800" b="0" cap="none" spc="0">
                          <a:solidFill>
                            <a:schemeClr val="tx1"/>
                          </a:solidFill>
                          <a:effectLst/>
                          <a:latin typeface="Roboto" panose="02000000000000000000" pitchFamily="2" charset="0"/>
                        </a:rPr>
                        <a:t>UniL_Revio-Kinnex-Segmented-SPRQ-NX</a:t>
                      </a:r>
                    </a:p>
                  </a:txBody>
                  <a:tcPr marL="72084" marR="46208" marT="55449" marB="55449"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Roboto" panose="02000000000000000000" pitchFamily="2" charset="0"/>
                        </a:rPr>
                        <a:t>UniL</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Roboto" panose="02000000000000000000" pitchFamily="2" charset="0"/>
                        </a:rPr>
                        <a:t>Revio</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Yes</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Kinnex</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Segmented</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SPRQ NX</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584136</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874997625</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97</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1497.9</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5404</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49373</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rtl="0" fontAlgn="ctr">
                        <a:buNone/>
                      </a:pPr>
                      <a:r>
                        <a:rPr lang="en-US" sz="800" b="0" cap="none" spc="0">
                          <a:solidFill>
                            <a:schemeClr val="tx1"/>
                          </a:solidFill>
                          <a:effectLst/>
                          <a:latin typeface="Google Sans"/>
                        </a:rPr>
                        <a:t>8,45%</a:t>
                      </a:r>
                    </a:p>
                  </a:txBody>
                  <a:tcPr marL="72084" marR="46208" marT="55449" marB="55449"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4053905247"/>
                  </a:ext>
                </a:extLst>
              </a:tr>
              <a:tr h="350441">
                <a:tc>
                  <a:txBody>
                    <a:bodyPr/>
                    <a:lstStyle/>
                    <a:p>
                      <a:pPr rtl="0" fontAlgn="ctr">
                        <a:buNone/>
                      </a:pPr>
                      <a:r>
                        <a:rPr lang="en-US" sz="800" b="0" cap="none" spc="0">
                          <a:solidFill>
                            <a:schemeClr val="tx1"/>
                          </a:solidFill>
                          <a:effectLst/>
                          <a:latin typeface="Roboto" panose="02000000000000000000" pitchFamily="2" charset="0"/>
                        </a:rPr>
                        <a:t>UniL_Revio-Kinnex-Segmented-SPRQ</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Roboto" panose="02000000000000000000" pitchFamily="2" charset="0"/>
                        </a:rPr>
                        <a:t>UniL</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Roboto" panose="02000000000000000000" pitchFamily="2" charset="0"/>
                        </a:rPr>
                        <a:t>Revio</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Yes </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Kinnex</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Segmented</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SPRQ</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1404011</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2061300440</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51</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1468.2</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4663</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49373</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rtl="0" fontAlgn="ctr">
                        <a:buNone/>
                      </a:pPr>
                      <a:r>
                        <a:rPr lang="en-US" sz="800" b="0" cap="none" spc="0">
                          <a:solidFill>
                            <a:schemeClr val="tx1"/>
                          </a:solidFill>
                          <a:effectLst/>
                          <a:latin typeface="Google Sans"/>
                        </a:rPr>
                        <a:t>3,52%</a:t>
                      </a:r>
                    </a:p>
                  </a:txBody>
                  <a:tcPr marL="72084" marR="46208" marT="55449" marB="55449"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2026497216"/>
                  </a:ext>
                </a:extLst>
              </a:tr>
              <a:tr h="398778">
                <a:tc>
                  <a:txBody>
                    <a:bodyPr/>
                    <a:lstStyle/>
                    <a:p>
                      <a:pPr rtl="0" fontAlgn="ctr">
                        <a:buNone/>
                      </a:pPr>
                      <a:r>
                        <a:rPr lang="en-US" sz="800" b="0" cap="none" spc="0">
                          <a:solidFill>
                            <a:schemeClr val="tx1"/>
                          </a:solidFill>
                          <a:effectLst/>
                          <a:latin typeface="Roboto" panose="02000000000000000000" pitchFamily="2" charset="0"/>
                        </a:rPr>
                        <a:t>UniL_Revio-Kinnex-Non-Segemented-SPRQ-NX</a:t>
                      </a:r>
                    </a:p>
                  </a:txBody>
                  <a:tcPr marL="72084" marR="46208" marT="55449" marB="55449"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rtl="0" fontAlgn="ctr">
                        <a:buNone/>
                      </a:pPr>
                      <a:r>
                        <a:rPr lang="en-US" sz="800" b="0" cap="none" spc="0">
                          <a:solidFill>
                            <a:schemeClr val="tx1"/>
                          </a:solidFill>
                          <a:effectLst/>
                          <a:latin typeface="Roboto" panose="02000000000000000000" pitchFamily="2" charset="0"/>
                        </a:rPr>
                        <a:t>UniL</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rtl="0" fontAlgn="ctr">
                        <a:buNone/>
                      </a:pPr>
                      <a:r>
                        <a:rPr lang="en-US" sz="800" b="0" cap="none" spc="0">
                          <a:solidFill>
                            <a:schemeClr val="tx1"/>
                          </a:solidFill>
                          <a:effectLst/>
                          <a:latin typeface="Roboto" panose="02000000000000000000" pitchFamily="2" charset="0"/>
                        </a:rPr>
                        <a:t>Revio</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rtl="0" fontAlgn="ctr">
                        <a:buNone/>
                      </a:pPr>
                      <a:r>
                        <a:rPr lang="en-US" sz="800" b="0" cap="none" spc="0">
                          <a:solidFill>
                            <a:schemeClr val="tx1"/>
                          </a:solidFill>
                          <a:effectLst/>
                          <a:latin typeface="Google Sans"/>
                        </a:rPr>
                        <a:t>Yes </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rtl="0" fontAlgn="ctr">
                        <a:buNone/>
                      </a:pPr>
                      <a:r>
                        <a:rPr lang="en-US" sz="800" b="0" cap="none" spc="0">
                          <a:solidFill>
                            <a:schemeClr val="tx1"/>
                          </a:solidFill>
                          <a:effectLst/>
                          <a:latin typeface="Google Sans"/>
                        </a:rPr>
                        <a:t>Kinnex</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rtl="0" fontAlgn="ctr">
                        <a:buNone/>
                      </a:pPr>
                      <a:r>
                        <a:rPr lang="en-US" sz="800" b="0" cap="none" spc="0">
                          <a:solidFill>
                            <a:schemeClr val="tx1"/>
                          </a:solidFill>
                          <a:effectLst/>
                          <a:latin typeface="Google Sans"/>
                        </a:rPr>
                        <a:t>Non Segmented</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rtl="0" fontAlgn="ctr">
                        <a:buNone/>
                      </a:pPr>
                      <a:r>
                        <a:rPr lang="en-US" sz="800" b="0" cap="none" spc="0">
                          <a:solidFill>
                            <a:schemeClr val="tx1"/>
                          </a:solidFill>
                          <a:effectLst/>
                          <a:latin typeface="Google Sans"/>
                        </a:rPr>
                        <a:t>SPRQ NX</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rtl="0" fontAlgn="ctr">
                        <a:buNone/>
                      </a:pPr>
                      <a:r>
                        <a:rPr lang="en-US" sz="800" b="0" cap="none" spc="0">
                          <a:solidFill>
                            <a:schemeClr val="tx1"/>
                          </a:solidFill>
                          <a:effectLst/>
                          <a:latin typeface="Google Sans"/>
                        </a:rPr>
                        <a:t>609565</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rtl="0" fontAlgn="ctr">
                        <a:buNone/>
                      </a:pPr>
                      <a:r>
                        <a:rPr lang="en-US" sz="800" b="0" cap="none" spc="0">
                          <a:solidFill>
                            <a:schemeClr val="tx1"/>
                          </a:solidFill>
                          <a:effectLst/>
                          <a:latin typeface="Google Sans"/>
                        </a:rPr>
                        <a:t>908547129</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rtl="0" fontAlgn="ctr">
                        <a:buNone/>
                      </a:pPr>
                      <a:r>
                        <a:rPr lang="en-US" sz="800" b="0" cap="none" spc="0">
                          <a:solidFill>
                            <a:schemeClr val="tx1"/>
                          </a:solidFill>
                          <a:effectLst/>
                          <a:latin typeface="Google Sans"/>
                        </a:rPr>
                        <a:t>1129</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rtl="0" fontAlgn="ctr">
                        <a:buNone/>
                      </a:pPr>
                      <a:r>
                        <a:rPr lang="en-US" sz="800" b="0" cap="none" spc="0">
                          <a:solidFill>
                            <a:schemeClr val="tx1"/>
                          </a:solidFill>
                          <a:effectLst/>
                          <a:latin typeface="Google Sans"/>
                        </a:rPr>
                        <a:t>1490.5</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rtl="0" fontAlgn="ctr">
                        <a:buNone/>
                      </a:pPr>
                      <a:r>
                        <a:rPr lang="en-US" sz="800" b="0" cap="none" spc="0">
                          <a:solidFill>
                            <a:schemeClr val="tx1"/>
                          </a:solidFill>
                          <a:effectLst/>
                          <a:latin typeface="Google Sans"/>
                        </a:rPr>
                        <a:t>4651</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rtl="0" fontAlgn="ctr">
                        <a:buNone/>
                      </a:pPr>
                      <a:r>
                        <a:rPr lang="en-US" sz="800" b="0" cap="none" spc="0">
                          <a:solidFill>
                            <a:schemeClr val="tx1"/>
                          </a:solidFill>
                          <a:effectLst/>
                          <a:latin typeface="Google Sans"/>
                        </a:rPr>
                        <a:t>49373</a:t>
                      </a:r>
                    </a:p>
                  </a:txBody>
                  <a:tcPr marL="72084" marR="46208" marT="55449" marB="55449"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rtl="0" fontAlgn="ctr">
                        <a:buNone/>
                      </a:pPr>
                      <a:r>
                        <a:rPr lang="en-US" sz="800" b="0" cap="none" spc="0">
                          <a:solidFill>
                            <a:schemeClr val="tx1"/>
                          </a:solidFill>
                          <a:effectLst/>
                          <a:latin typeface="Google Sans"/>
                        </a:rPr>
                        <a:t>8,10%</a:t>
                      </a:r>
                    </a:p>
                  </a:txBody>
                  <a:tcPr marL="72084" marR="46208" marT="55449" marB="55449"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2895481161"/>
                  </a:ext>
                </a:extLst>
              </a:tr>
            </a:tbl>
          </a:graphicData>
        </a:graphic>
      </p:graphicFrame>
      <p:sp>
        <p:nvSpPr>
          <p:cNvPr id="3" name="TextBox 2">
            <a:extLst>
              <a:ext uri="{FF2B5EF4-FFF2-40B4-BE49-F238E27FC236}">
                <a16:creationId xmlns:a16="http://schemas.microsoft.com/office/drawing/2014/main" id="{BBBEED8A-C6EB-5AE4-4F61-0DBCB189F2DC}"/>
              </a:ext>
            </a:extLst>
          </p:cNvPr>
          <p:cNvSpPr txBox="1"/>
          <p:nvPr/>
        </p:nvSpPr>
        <p:spPr>
          <a:xfrm>
            <a:off x="2264609" y="1950185"/>
            <a:ext cx="772026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t>Datasets summary</a:t>
            </a:r>
          </a:p>
        </p:txBody>
      </p:sp>
    </p:spTree>
    <p:extLst>
      <p:ext uri="{BB962C8B-B14F-4D97-AF65-F5344CB8AC3E}">
        <p14:creationId xmlns:p14="http://schemas.microsoft.com/office/powerpoint/2010/main" val="1260802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57D48-56BD-681C-D516-C72E099964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BD07C0-3C66-ED34-FD5C-97B5FC2E5AD8}"/>
              </a:ext>
            </a:extLst>
          </p:cNvPr>
          <p:cNvSpPr>
            <a:spLocks noGrp="1"/>
          </p:cNvSpPr>
          <p:nvPr>
            <p:ph type="title"/>
          </p:nvPr>
        </p:nvSpPr>
        <p:spPr>
          <a:xfrm>
            <a:off x="1097280" y="286603"/>
            <a:ext cx="10359188" cy="1430705"/>
          </a:xfrm>
        </p:spPr>
        <p:txBody>
          <a:bodyPr>
            <a:normAutofit/>
          </a:bodyPr>
          <a:lstStyle/>
          <a:p>
            <a:r>
              <a:rPr lang="en-US" b="1" dirty="0"/>
              <a:t>Results: Proportional</a:t>
            </a:r>
            <a:r>
              <a:rPr lang="en-US" b="1" dirty="0">
                <a:solidFill>
                  <a:srgbClr val="404040"/>
                </a:solidFill>
                <a:latin typeface="Calibri Light"/>
                <a:ea typeface="Calibri Light"/>
                <a:cs typeface="Calibri Light"/>
              </a:rPr>
              <a:t> read subsampling</a:t>
            </a:r>
            <a:r>
              <a:rPr lang="en-US" b="1" dirty="0"/>
              <a:t> (1/4)</a:t>
            </a:r>
            <a:endParaRPr lang="en-US" dirty="0"/>
          </a:p>
        </p:txBody>
      </p:sp>
      <p:sp>
        <p:nvSpPr>
          <p:cNvPr id="4" name="Date Placeholder 3">
            <a:extLst>
              <a:ext uri="{FF2B5EF4-FFF2-40B4-BE49-F238E27FC236}">
                <a16:creationId xmlns:a16="http://schemas.microsoft.com/office/drawing/2014/main" id="{3D0233F4-914C-5486-8B1A-A9916D54E79C}"/>
              </a:ext>
            </a:extLst>
          </p:cNvPr>
          <p:cNvSpPr>
            <a:spLocks noGrp="1"/>
          </p:cNvSpPr>
          <p:nvPr>
            <p:ph type="dt" sz="half" idx="10"/>
          </p:nvPr>
        </p:nvSpPr>
        <p:spPr/>
        <p:txBody>
          <a:bodyPr/>
          <a:lstStyle/>
          <a:p>
            <a:fld id="{BBC26B67-AAB5-4300-8154-55534B8BD401}" type="datetime1">
              <a:rPr lang="en-US"/>
              <a:t>10/19/26</a:t>
            </a:fld>
            <a:endParaRPr lang="en-US" dirty="0"/>
          </a:p>
        </p:txBody>
      </p:sp>
      <p:sp>
        <p:nvSpPr>
          <p:cNvPr id="3" name="Slide Number Placeholder 2">
            <a:extLst>
              <a:ext uri="{FF2B5EF4-FFF2-40B4-BE49-F238E27FC236}">
                <a16:creationId xmlns:a16="http://schemas.microsoft.com/office/drawing/2014/main" id="{B9B716F6-63AC-64EF-0CED-737ADF983EB6}"/>
              </a:ext>
            </a:extLst>
          </p:cNvPr>
          <p:cNvSpPr>
            <a:spLocks noGrp="1"/>
          </p:cNvSpPr>
          <p:nvPr>
            <p:ph type="sldNum" sz="quarter" idx="12"/>
          </p:nvPr>
        </p:nvSpPr>
        <p:spPr/>
        <p:txBody>
          <a:bodyPr/>
          <a:lstStyle/>
          <a:p>
            <a:fld id="{CC057153-B650-4DEB-B370-79DDCFDCE934}" type="slidenum">
              <a:rPr lang="en-US" dirty="0"/>
              <a:t>6</a:t>
            </a:fld>
            <a:endParaRPr lang="en-US"/>
          </a:p>
        </p:txBody>
      </p:sp>
      <p:pic>
        <p:nvPicPr>
          <p:cNvPr id="5" name="Picture 4">
            <a:extLst>
              <a:ext uri="{FF2B5EF4-FFF2-40B4-BE49-F238E27FC236}">
                <a16:creationId xmlns:a16="http://schemas.microsoft.com/office/drawing/2014/main" id="{333CE617-D73C-1907-077F-8E5607F43A6E}"/>
              </a:ext>
            </a:extLst>
          </p:cNvPr>
          <p:cNvPicPr>
            <a:picLocks noChangeAspect="1"/>
          </p:cNvPicPr>
          <p:nvPr/>
        </p:nvPicPr>
        <p:blipFill>
          <a:blip r:embed="rId2"/>
          <a:stretch>
            <a:fillRect/>
          </a:stretch>
        </p:blipFill>
        <p:spPr>
          <a:xfrm>
            <a:off x="6096000" y="1936143"/>
            <a:ext cx="5867399" cy="3829548"/>
          </a:xfrm>
          <a:prstGeom prst="rect">
            <a:avLst/>
          </a:prstGeom>
        </p:spPr>
      </p:pic>
      <p:pic>
        <p:nvPicPr>
          <p:cNvPr id="6" name="Picture 5">
            <a:extLst>
              <a:ext uri="{FF2B5EF4-FFF2-40B4-BE49-F238E27FC236}">
                <a16:creationId xmlns:a16="http://schemas.microsoft.com/office/drawing/2014/main" id="{96542F32-1612-8F95-E354-A2AE49B8CEFD}"/>
              </a:ext>
            </a:extLst>
          </p:cNvPr>
          <p:cNvPicPr>
            <a:picLocks noChangeAspect="1"/>
          </p:cNvPicPr>
          <p:nvPr/>
        </p:nvPicPr>
        <p:blipFill>
          <a:blip r:embed="rId3"/>
          <a:stretch>
            <a:fillRect/>
          </a:stretch>
        </p:blipFill>
        <p:spPr>
          <a:xfrm>
            <a:off x="177800" y="1936143"/>
            <a:ext cx="5867399" cy="3829548"/>
          </a:xfrm>
          <a:prstGeom prst="rect">
            <a:avLst/>
          </a:prstGeom>
        </p:spPr>
      </p:pic>
      <p:sp>
        <p:nvSpPr>
          <p:cNvPr id="7" name="TextBox 6">
            <a:extLst>
              <a:ext uri="{FF2B5EF4-FFF2-40B4-BE49-F238E27FC236}">
                <a16:creationId xmlns:a16="http://schemas.microsoft.com/office/drawing/2014/main" id="{BD63AA24-39B9-375C-B08F-79CD1D6C7B7E}"/>
              </a:ext>
            </a:extLst>
          </p:cNvPr>
          <p:cNvSpPr txBox="1"/>
          <p:nvPr/>
        </p:nvSpPr>
        <p:spPr>
          <a:xfrm>
            <a:off x="1211299" y="5928072"/>
            <a:ext cx="1900200" cy="369332"/>
          </a:xfrm>
          <a:prstGeom prst="rect">
            <a:avLst/>
          </a:prstGeom>
          <a:noFill/>
        </p:spPr>
        <p:txBody>
          <a:bodyPr wrap="none" rtlCol="0">
            <a:spAutoFit/>
          </a:bodyPr>
          <a:lstStyle/>
          <a:p>
            <a:r>
              <a:rPr lang="en-US" dirty="0"/>
              <a:t>Execution Time (s)</a:t>
            </a:r>
          </a:p>
        </p:txBody>
      </p:sp>
      <p:sp>
        <p:nvSpPr>
          <p:cNvPr id="8" name="TextBox 7">
            <a:extLst>
              <a:ext uri="{FF2B5EF4-FFF2-40B4-BE49-F238E27FC236}">
                <a16:creationId xmlns:a16="http://schemas.microsoft.com/office/drawing/2014/main" id="{66D62E8A-3BC4-A83C-D4C2-A6ABA8501402}"/>
              </a:ext>
            </a:extLst>
          </p:cNvPr>
          <p:cNvSpPr txBox="1"/>
          <p:nvPr/>
        </p:nvSpPr>
        <p:spPr>
          <a:xfrm>
            <a:off x="7478590" y="5928072"/>
            <a:ext cx="1601913" cy="369332"/>
          </a:xfrm>
          <a:prstGeom prst="rect">
            <a:avLst/>
          </a:prstGeom>
          <a:noFill/>
        </p:spPr>
        <p:txBody>
          <a:bodyPr wrap="none" rtlCol="0">
            <a:spAutoFit/>
          </a:bodyPr>
          <a:lstStyle/>
          <a:p>
            <a:r>
              <a:rPr lang="en-US" dirty="0"/>
              <a:t>Peak RAM (GB)</a:t>
            </a:r>
          </a:p>
        </p:txBody>
      </p:sp>
    </p:spTree>
    <p:extLst>
      <p:ext uri="{BB962C8B-B14F-4D97-AF65-F5344CB8AC3E}">
        <p14:creationId xmlns:p14="http://schemas.microsoft.com/office/powerpoint/2010/main" val="1978933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AB42F-4969-AE5E-BCEA-0A1DD24D79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A00AE0-DC9D-9F44-8168-6B37CCCBC7E2}"/>
              </a:ext>
            </a:extLst>
          </p:cNvPr>
          <p:cNvSpPr>
            <a:spLocks noGrp="1"/>
          </p:cNvSpPr>
          <p:nvPr>
            <p:ph type="title"/>
          </p:nvPr>
        </p:nvSpPr>
        <p:spPr>
          <a:xfrm>
            <a:off x="1097280" y="286603"/>
            <a:ext cx="10359188" cy="1430705"/>
          </a:xfrm>
        </p:spPr>
        <p:txBody>
          <a:bodyPr>
            <a:normAutofit/>
          </a:bodyPr>
          <a:lstStyle/>
          <a:p>
            <a:r>
              <a:rPr lang="en-US" b="1" dirty="0"/>
              <a:t>Results: Proportional</a:t>
            </a:r>
            <a:r>
              <a:rPr lang="en-US" b="1" dirty="0">
                <a:solidFill>
                  <a:srgbClr val="404040"/>
                </a:solidFill>
                <a:latin typeface="Calibri Light"/>
                <a:ea typeface="Calibri Light"/>
                <a:cs typeface="Calibri Light"/>
              </a:rPr>
              <a:t> read subsampling</a:t>
            </a:r>
            <a:r>
              <a:rPr lang="en-US" b="1" dirty="0"/>
              <a:t> (2/4)</a:t>
            </a:r>
            <a:endParaRPr lang="en-US" dirty="0"/>
          </a:p>
        </p:txBody>
      </p:sp>
      <p:sp>
        <p:nvSpPr>
          <p:cNvPr id="4" name="Date Placeholder 3">
            <a:extLst>
              <a:ext uri="{FF2B5EF4-FFF2-40B4-BE49-F238E27FC236}">
                <a16:creationId xmlns:a16="http://schemas.microsoft.com/office/drawing/2014/main" id="{408A59F7-6248-79A4-E6AA-D3684E388D88}"/>
              </a:ext>
            </a:extLst>
          </p:cNvPr>
          <p:cNvSpPr>
            <a:spLocks noGrp="1"/>
          </p:cNvSpPr>
          <p:nvPr>
            <p:ph type="dt" sz="half" idx="10"/>
          </p:nvPr>
        </p:nvSpPr>
        <p:spPr/>
        <p:txBody>
          <a:bodyPr/>
          <a:lstStyle/>
          <a:p>
            <a:fld id="{BBC26B67-AAB5-4300-8154-55534B8BD401}" type="datetime1">
              <a:rPr lang="en-US"/>
              <a:t>10/19/26</a:t>
            </a:fld>
            <a:endParaRPr lang="en-US" dirty="0"/>
          </a:p>
        </p:txBody>
      </p:sp>
      <p:sp>
        <p:nvSpPr>
          <p:cNvPr id="3" name="Slide Number Placeholder 2">
            <a:extLst>
              <a:ext uri="{FF2B5EF4-FFF2-40B4-BE49-F238E27FC236}">
                <a16:creationId xmlns:a16="http://schemas.microsoft.com/office/drawing/2014/main" id="{E6D2CB63-F2BD-67C9-1983-A7007F1C0BEE}"/>
              </a:ext>
            </a:extLst>
          </p:cNvPr>
          <p:cNvSpPr>
            <a:spLocks noGrp="1"/>
          </p:cNvSpPr>
          <p:nvPr>
            <p:ph type="sldNum" sz="quarter" idx="12"/>
          </p:nvPr>
        </p:nvSpPr>
        <p:spPr/>
        <p:txBody>
          <a:bodyPr/>
          <a:lstStyle/>
          <a:p>
            <a:fld id="{CC057153-B650-4DEB-B370-79DDCFDCE934}" type="slidenum">
              <a:rPr lang="en-US" dirty="0"/>
              <a:t>7</a:t>
            </a:fld>
            <a:endParaRPr lang="en-US"/>
          </a:p>
        </p:txBody>
      </p:sp>
      <p:pic>
        <p:nvPicPr>
          <p:cNvPr id="10" name="Picture 9">
            <a:extLst>
              <a:ext uri="{FF2B5EF4-FFF2-40B4-BE49-F238E27FC236}">
                <a16:creationId xmlns:a16="http://schemas.microsoft.com/office/drawing/2014/main" id="{7BD41BC2-2237-4431-2BB1-5EE833E748C0}"/>
              </a:ext>
            </a:extLst>
          </p:cNvPr>
          <p:cNvPicPr>
            <a:picLocks noChangeAspect="1"/>
          </p:cNvPicPr>
          <p:nvPr/>
        </p:nvPicPr>
        <p:blipFill>
          <a:blip r:embed="rId2"/>
          <a:stretch>
            <a:fillRect/>
          </a:stretch>
        </p:blipFill>
        <p:spPr>
          <a:xfrm>
            <a:off x="0" y="1941088"/>
            <a:ext cx="6095999" cy="3977112"/>
          </a:xfrm>
          <a:prstGeom prst="rect">
            <a:avLst/>
          </a:prstGeom>
        </p:spPr>
      </p:pic>
      <p:pic>
        <p:nvPicPr>
          <p:cNvPr id="12" name="Picture 11">
            <a:extLst>
              <a:ext uri="{FF2B5EF4-FFF2-40B4-BE49-F238E27FC236}">
                <a16:creationId xmlns:a16="http://schemas.microsoft.com/office/drawing/2014/main" id="{B05309B5-3747-BC6C-4FE1-74977748A6D5}"/>
              </a:ext>
            </a:extLst>
          </p:cNvPr>
          <p:cNvPicPr>
            <a:picLocks noChangeAspect="1"/>
          </p:cNvPicPr>
          <p:nvPr/>
        </p:nvPicPr>
        <p:blipFill>
          <a:blip r:embed="rId3"/>
          <a:stretch>
            <a:fillRect/>
          </a:stretch>
        </p:blipFill>
        <p:spPr>
          <a:xfrm>
            <a:off x="6096000" y="1941088"/>
            <a:ext cx="6096000" cy="3977112"/>
          </a:xfrm>
          <a:prstGeom prst="rect">
            <a:avLst/>
          </a:prstGeom>
        </p:spPr>
      </p:pic>
      <p:sp>
        <p:nvSpPr>
          <p:cNvPr id="13" name="TextBox 12">
            <a:extLst>
              <a:ext uri="{FF2B5EF4-FFF2-40B4-BE49-F238E27FC236}">
                <a16:creationId xmlns:a16="http://schemas.microsoft.com/office/drawing/2014/main" id="{DC4C2506-7F24-757D-04FF-40F7ECC7D5BB}"/>
              </a:ext>
            </a:extLst>
          </p:cNvPr>
          <p:cNvSpPr txBox="1"/>
          <p:nvPr/>
        </p:nvSpPr>
        <p:spPr>
          <a:xfrm>
            <a:off x="1435100" y="5957314"/>
            <a:ext cx="1522083" cy="369332"/>
          </a:xfrm>
          <a:prstGeom prst="rect">
            <a:avLst/>
          </a:prstGeom>
          <a:noFill/>
        </p:spPr>
        <p:txBody>
          <a:bodyPr wrap="none" rtlCol="0">
            <a:spAutoFit/>
          </a:bodyPr>
          <a:lstStyle/>
          <a:p>
            <a:r>
              <a:rPr lang="en-US" noProof="0" dirty="0"/>
              <a:t>CPU efficiency</a:t>
            </a:r>
          </a:p>
        </p:txBody>
      </p:sp>
      <p:sp>
        <p:nvSpPr>
          <p:cNvPr id="14" name="TextBox 13">
            <a:extLst>
              <a:ext uri="{FF2B5EF4-FFF2-40B4-BE49-F238E27FC236}">
                <a16:creationId xmlns:a16="http://schemas.microsoft.com/office/drawing/2014/main" id="{6903F63B-9E7A-AB7A-A3E0-EFD074EAF0E7}"/>
              </a:ext>
            </a:extLst>
          </p:cNvPr>
          <p:cNvSpPr txBox="1"/>
          <p:nvPr/>
        </p:nvSpPr>
        <p:spPr>
          <a:xfrm>
            <a:off x="7768302" y="5957314"/>
            <a:ext cx="1375698" cy="369332"/>
          </a:xfrm>
          <a:prstGeom prst="rect">
            <a:avLst/>
          </a:prstGeom>
          <a:noFill/>
        </p:spPr>
        <p:txBody>
          <a:bodyPr wrap="none" rtlCol="0">
            <a:spAutoFit/>
          </a:bodyPr>
          <a:lstStyle/>
          <a:p>
            <a:r>
              <a:rPr lang="en-US" dirty="0"/>
              <a:t>CPU Time (s)</a:t>
            </a:r>
          </a:p>
        </p:txBody>
      </p:sp>
    </p:spTree>
    <p:extLst>
      <p:ext uri="{BB962C8B-B14F-4D97-AF65-F5344CB8AC3E}">
        <p14:creationId xmlns:p14="http://schemas.microsoft.com/office/powerpoint/2010/main" val="842980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FD29D-379D-F23D-DE84-E43465AF1D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5865A0-A564-7250-1780-3BC31479D4FD}"/>
              </a:ext>
            </a:extLst>
          </p:cNvPr>
          <p:cNvSpPr>
            <a:spLocks noGrp="1"/>
          </p:cNvSpPr>
          <p:nvPr>
            <p:ph type="title"/>
          </p:nvPr>
        </p:nvSpPr>
        <p:spPr>
          <a:xfrm>
            <a:off x="1097280" y="286603"/>
            <a:ext cx="10359188" cy="1430705"/>
          </a:xfrm>
        </p:spPr>
        <p:txBody>
          <a:bodyPr>
            <a:normAutofit/>
          </a:bodyPr>
          <a:lstStyle/>
          <a:p>
            <a:r>
              <a:rPr lang="en-US" b="1" dirty="0"/>
              <a:t>Results: Proportional</a:t>
            </a:r>
            <a:r>
              <a:rPr lang="en-US" b="1" dirty="0">
                <a:solidFill>
                  <a:srgbClr val="404040"/>
                </a:solidFill>
                <a:latin typeface="Calibri Light"/>
                <a:ea typeface="Calibri Light"/>
                <a:cs typeface="Calibri Light"/>
              </a:rPr>
              <a:t> read subsampling</a:t>
            </a:r>
            <a:r>
              <a:rPr lang="en-US" b="1" dirty="0"/>
              <a:t> (3/4)</a:t>
            </a:r>
            <a:endParaRPr lang="en-US" dirty="0"/>
          </a:p>
        </p:txBody>
      </p:sp>
      <p:sp>
        <p:nvSpPr>
          <p:cNvPr id="4" name="Date Placeholder 3">
            <a:extLst>
              <a:ext uri="{FF2B5EF4-FFF2-40B4-BE49-F238E27FC236}">
                <a16:creationId xmlns:a16="http://schemas.microsoft.com/office/drawing/2014/main" id="{57EF1C49-4E58-9248-21A8-980ED3925596}"/>
              </a:ext>
            </a:extLst>
          </p:cNvPr>
          <p:cNvSpPr>
            <a:spLocks noGrp="1"/>
          </p:cNvSpPr>
          <p:nvPr>
            <p:ph type="dt" sz="half" idx="10"/>
          </p:nvPr>
        </p:nvSpPr>
        <p:spPr/>
        <p:txBody>
          <a:bodyPr/>
          <a:lstStyle/>
          <a:p>
            <a:fld id="{BBC26B67-AAB5-4300-8154-55534B8BD401}" type="datetime1">
              <a:rPr lang="en-US"/>
              <a:t>10/19/26</a:t>
            </a:fld>
            <a:endParaRPr lang="en-US" dirty="0"/>
          </a:p>
        </p:txBody>
      </p:sp>
      <p:sp>
        <p:nvSpPr>
          <p:cNvPr id="3" name="Slide Number Placeholder 2">
            <a:extLst>
              <a:ext uri="{FF2B5EF4-FFF2-40B4-BE49-F238E27FC236}">
                <a16:creationId xmlns:a16="http://schemas.microsoft.com/office/drawing/2014/main" id="{B1E387BE-1191-7614-E493-1B6A739C7618}"/>
              </a:ext>
            </a:extLst>
          </p:cNvPr>
          <p:cNvSpPr>
            <a:spLocks noGrp="1"/>
          </p:cNvSpPr>
          <p:nvPr>
            <p:ph type="sldNum" sz="quarter" idx="12"/>
          </p:nvPr>
        </p:nvSpPr>
        <p:spPr/>
        <p:txBody>
          <a:bodyPr/>
          <a:lstStyle/>
          <a:p>
            <a:fld id="{CC057153-B650-4DEB-B370-79DDCFDCE934}" type="slidenum">
              <a:rPr lang="en-US" dirty="0"/>
              <a:t>8</a:t>
            </a:fld>
            <a:endParaRPr lang="en-US"/>
          </a:p>
        </p:txBody>
      </p:sp>
      <p:pic>
        <p:nvPicPr>
          <p:cNvPr id="6" name="Picture 5">
            <a:extLst>
              <a:ext uri="{FF2B5EF4-FFF2-40B4-BE49-F238E27FC236}">
                <a16:creationId xmlns:a16="http://schemas.microsoft.com/office/drawing/2014/main" id="{35AA9AC1-DAB2-7CE5-0BD2-11F1A3150FAD}"/>
              </a:ext>
            </a:extLst>
          </p:cNvPr>
          <p:cNvPicPr>
            <a:picLocks noChangeAspect="1"/>
          </p:cNvPicPr>
          <p:nvPr/>
        </p:nvPicPr>
        <p:blipFill>
          <a:blip r:embed="rId2"/>
          <a:stretch>
            <a:fillRect/>
          </a:stretch>
        </p:blipFill>
        <p:spPr>
          <a:xfrm>
            <a:off x="127000" y="1800249"/>
            <a:ext cx="8801100" cy="5024661"/>
          </a:xfrm>
          <a:prstGeom prst="rect">
            <a:avLst/>
          </a:prstGeom>
        </p:spPr>
      </p:pic>
    </p:spTree>
    <p:extLst>
      <p:ext uri="{BB962C8B-B14F-4D97-AF65-F5344CB8AC3E}">
        <p14:creationId xmlns:p14="http://schemas.microsoft.com/office/powerpoint/2010/main" val="89235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4FC77-D454-B1A2-3F4D-125C036B67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D57191-0704-667A-4B2B-E2D9D6AF09B9}"/>
              </a:ext>
            </a:extLst>
          </p:cNvPr>
          <p:cNvSpPr>
            <a:spLocks noGrp="1"/>
          </p:cNvSpPr>
          <p:nvPr>
            <p:ph type="title"/>
          </p:nvPr>
        </p:nvSpPr>
        <p:spPr>
          <a:xfrm>
            <a:off x="1097280" y="286603"/>
            <a:ext cx="10359188" cy="1430705"/>
          </a:xfrm>
        </p:spPr>
        <p:txBody>
          <a:bodyPr>
            <a:normAutofit/>
          </a:bodyPr>
          <a:lstStyle/>
          <a:p>
            <a:r>
              <a:rPr lang="en-US" b="1" dirty="0"/>
              <a:t>Results: </a:t>
            </a:r>
            <a:r>
              <a:rPr lang="en-US" b="1" dirty="0">
                <a:solidFill>
                  <a:srgbClr val="404040"/>
                </a:solidFill>
                <a:latin typeface="Calibri Light"/>
                <a:ea typeface="Calibri Light"/>
                <a:cs typeface="Calibri Light"/>
              </a:rPr>
              <a:t>Proportional read subsampling</a:t>
            </a:r>
            <a:r>
              <a:rPr lang="en-US" b="1" dirty="0"/>
              <a:t> (4/4)</a:t>
            </a:r>
            <a:endParaRPr lang="en-US" dirty="0"/>
          </a:p>
        </p:txBody>
      </p:sp>
      <p:sp>
        <p:nvSpPr>
          <p:cNvPr id="4" name="Date Placeholder 3">
            <a:extLst>
              <a:ext uri="{FF2B5EF4-FFF2-40B4-BE49-F238E27FC236}">
                <a16:creationId xmlns:a16="http://schemas.microsoft.com/office/drawing/2014/main" id="{C1E09165-BA68-F787-B994-BE8E2CEE1A79}"/>
              </a:ext>
            </a:extLst>
          </p:cNvPr>
          <p:cNvSpPr>
            <a:spLocks noGrp="1"/>
          </p:cNvSpPr>
          <p:nvPr>
            <p:ph type="dt" sz="half" idx="10"/>
          </p:nvPr>
        </p:nvSpPr>
        <p:spPr/>
        <p:txBody>
          <a:bodyPr/>
          <a:lstStyle/>
          <a:p>
            <a:fld id="{BBC26B67-AAB5-4300-8154-55534B8BD401}" type="datetime1">
              <a:rPr lang="en-US"/>
              <a:t>10/19/26</a:t>
            </a:fld>
            <a:endParaRPr lang="en-US" dirty="0"/>
          </a:p>
        </p:txBody>
      </p:sp>
      <p:sp>
        <p:nvSpPr>
          <p:cNvPr id="3" name="Slide Number Placeholder 2">
            <a:extLst>
              <a:ext uri="{FF2B5EF4-FFF2-40B4-BE49-F238E27FC236}">
                <a16:creationId xmlns:a16="http://schemas.microsoft.com/office/drawing/2014/main" id="{C9C983CD-7518-3129-7E1E-C89CC9C7977F}"/>
              </a:ext>
            </a:extLst>
          </p:cNvPr>
          <p:cNvSpPr>
            <a:spLocks noGrp="1"/>
          </p:cNvSpPr>
          <p:nvPr>
            <p:ph type="sldNum" sz="quarter" idx="12"/>
          </p:nvPr>
        </p:nvSpPr>
        <p:spPr/>
        <p:txBody>
          <a:bodyPr/>
          <a:lstStyle/>
          <a:p>
            <a:fld id="{CC057153-B650-4DEB-B370-79DDCFDCE934}" type="slidenum">
              <a:rPr lang="en-US" dirty="0"/>
              <a:t>9</a:t>
            </a:fld>
            <a:endParaRPr lang="en-US"/>
          </a:p>
        </p:txBody>
      </p:sp>
      <p:pic>
        <p:nvPicPr>
          <p:cNvPr id="6" name="Picture 5">
            <a:extLst>
              <a:ext uri="{FF2B5EF4-FFF2-40B4-BE49-F238E27FC236}">
                <a16:creationId xmlns:a16="http://schemas.microsoft.com/office/drawing/2014/main" id="{9FECA6E7-E8AF-F0AE-8C22-4B9C64CCC7E7}"/>
              </a:ext>
            </a:extLst>
          </p:cNvPr>
          <p:cNvPicPr>
            <a:picLocks noChangeAspect="1"/>
          </p:cNvPicPr>
          <p:nvPr/>
        </p:nvPicPr>
        <p:blipFill>
          <a:blip r:embed="rId2"/>
          <a:stretch>
            <a:fillRect/>
          </a:stretch>
        </p:blipFill>
        <p:spPr>
          <a:xfrm>
            <a:off x="279400" y="1943542"/>
            <a:ext cx="8648700" cy="4290009"/>
          </a:xfrm>
          <a:prstGeom prst="rect">
            <a:avLst/>
          </a:prstGeom>
        </p:spPr>
      </p:pic>
      <p:pic>
        <p:nvPicPr>
          <p:cNvPr id="8" name="Picture 7">
            <a:extLst>
              <a:ext uri="{FF2B5EF4-FFF2-40B4-BE49-F238E27FC236}">
                <a16:creationId xmlns:a16="http://schemas.microsoft.com/office/drawing/2014/main" id="{75F4C5EA-E510-C548-1171-DBB59523AA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3999" y="2461400"/>
            <a:ext cx="2620587" cy="2921000"/>
          </a:xfrm>
          <a:prstGeom prst="rect">
            <a:avLst/>
          </a:prstGeom>
        </p:spPr>
      </p:pic>
    </p:spTree>
    <p:extLst>
      <p:ext uri="{BB962C8B-B14F-4D97-AF65-F5344CB8AC3E}">
        <p14:creationId xmlns:p14="http://schemas.microsoft.com/office/powerpoint/2010/main" val="2467884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9E59D-1B10-D356-F966-286E716017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F08544-D3F3-68BB-C2E4-488D9F112F6F}"/>
              </a:ext>
            </a:extLst>
          </p:cNvPr>
          <p:cNvSpPr>
            <a:spLocks noGrp="1"/>
          </p:cNvSpPr>
          <p:nvPr>
            <p:ph type="title"/>
          </p:nvPr>
        </p:nvSpPr>
        <p:spPr>
          <a:xfrm>
            <a:off x="1097280" y="286603"/>
            <a:ext cx="10359188" cy="1430705"/>
          </a:xfrm>
        </p:spPr>
        <p:txBody>
          <a:bodyPr>
            <a:normAutofit/>
          </a:bodyPr>
          <a:lstStyle/>
          <a:p>
            <a:r>
              <a:rPr lang="en-US" b="1" dirty="0"/>
              <a:t>Results: </a:t>
            </a:r>
            <a:r>
              <a:rPr lang="en-US" b="1" dirty="0">
                <a:solidFill>
                  <a:srgbClr val="404040"/>
                </a:solidFill>
                <a:latin typeface="Calibri Light"/>
                <a:ea typeface="Calibri Light"/>
                <a:cs typeface="Calibri Light"/>
              </a:rPr>
              <a:t>Subsampling to target number of bases</a:t>
            </a:r>
            <a:r>
              <a:rPr lang="en-US" b="1" dirty="0"/>
              <a:t> (1/4)</a:t>
            </a:r>
            <a:endParaRPr lang="en-US" dirty="0"/>
          </a:p>
        </p:txBody>
      </p:sp>
      <p:sp>
        <p:nvSpPr>
          <p:cNvPr id="4" name="Date Placeholder 3">
            <a:extLst>
              <a:ext uri="{FF2B5EF4-FFF2-40B4-BE49-F238E27FC236}">
                <a16:creationId xmlns:a16="http://schemas.microsoft.com/office/drawing/2014/main" id="{10825803-2B37-3C0E-ABC9-26EB65CD72DB}"/>
              </a:ext>
            </a:extLst>
          </p:cNvPr>
          <p:cNvSpPr>
            <a:spLocks noGrp="1"/>
          </p:cNvSpPr>
          <p:nvPr>
            <p:ph type="dt" sz="half" idx="10"/>
          </p:nvPr>
        </p:nvSpPr>
        <p:spPr/>
        <p:txBody>
          <a:bodyPr/>
          <a:lstStyle/>
          <a:p>
            <a:fld id="{BBC26B67-AAB5-4300-8154-55534B8BD401}" type="datetime1">
              <a:rPr lang="en-US"/>
              <a:t>10/19/26</a:t>
            </a:fld>
            <a:endParaRPr lang="en-US" dirty="0"/>
          </a:p>
        </p:txBody>
      </p:sp>
      <p:sp>
        <p:nvSpPr>
          <p:cNvPr id="3" name="Slide Number Placeholder 2">
            <a:extLst>
              <a:ext uri="{FF2B5EF4-FFF2-40B4-BE49-F238E27FC236}">
                <a16:creationId xmlns:a16="http://schemas.microsoft.com/office/drawing/2014/main" id="{A604B51F-1FE4-6082-9F6F-27E5841D7C79}"/>
              </a:ext>
            </a:extLst>
          </p:cNvPr>
          <p:cNvSpPr>
            <a:spLocks noGrp="1"/>
          </p:cNvSpPr>
          <p:nvPr>
            <p:ph type="sldNum" sz="quarter" idx="12"/>
          </p:nvPr>
        </p:nvSpPr>
        <p:spPr/>
        <p:txBody>
          <a:bodyPr/>
          <a:lstStyle/>
          <a:p>
            <a:fld id="{CC057153-B650-4DEB-B370-79DDCFDCE934}" type="slidenum">
              <a:rPr lang="en-US" dirty="0"/>
              <a:t>10</a:t>
            </a:fld>
            <a:endParaRPr lang="en-US"/>
          </a:p>
        </p:txBody>
      </p:sp>
      <p:pic>
        <p:nvPicPr>
          <p:cNvPr id="5" name="Picture 4">
            <a:extLst>
              <a:ext uri="{FF2B5EF4-FFF2-40B4-BE49-F238E27FC236}">
                <a16:creationId xmlns:a16="http://schemas.microsoft.com/office/drawing/2014/main" id="{5AE8DDDC-6739-9753-71E9-4DED1DB8DE19}"/>
              </a:ext>
            </a:extLst>
          </p:cNvPr>
          <p:cNvPicPr>
            <a:picLocks noChangeAspect="1"/>
          </p:cNvPicPr>
          <p:nvPr/>
        </p:nvPicPr>
        <p:blipFill>
          <a:blip r:embed="rId2"/>
          <a:stretch>
            <a:fillRect/>
          </a:stretch>
        </p:blipFill>
        <p:spPr>
          <a:xfrm>
            <a:off x="6316312" y="1818906"/>
            <a:ext cx="5507388" cy="3705593"/>
          </a:xfrm>
          <a:prstGeom prst="rect">
            <a:avLst/>
          </a:prstGeom>
        </p:spPr>
      </p:pic>
      <p:pic>
        <p:nvPicPr>
          <p:cNvPr id="6" name="Picture 5">
            <a:extLst>
              <a:ext uri="{FF2B5EF4-FFF2-40B4-BE49-F238E27FC236}">
                <a16:creationId xmlns:a16="http://schemas.microsoft.com/office/drawing/2014/main" id="{49E5D5B0-C4D8-609F-4CCD-512E0EC9F59B}"/>
              </a:ext>
            </a:extLst>
          </p:cNvPr>
          <p:cNvPicPr>
            <a:picLocks noChangeAspect="1"/>
          </p:cNvPicPr>
          <p:nvPr/>
        </p:nvPicPr>
        <p:blipFill>
          <a:blip r:embed="rId3"/>
          <a:stretch>
            <a:fillRect/>
          </a:stretch>
        </p:blipFill>
        <p:spPr>
          <a:xfrm>
            <a:off x="0" y="1818907"/>
            <a:ext cx="6096000" cy="3807193"/>
          </a:xfrm>
          <a:prstGeom prst="rect">
            <a:avLst/>
          </a:prstGeom>
        </p:spPr>
      </p:pic>
      <p:sp>
        <p:nvSpPr>
          <p:cNvPr id="9" name="TextBox 8">
            <a:extLst>
              <a:ext uri="{FF2B5EF4-FFF2-40B4-BE49-F238E27FC236}">
                <a16:creationId xmlns:a16="http://schemas.microsoft.com/office/drawing/2014/main" id="{103A1B26-F099-7BA5-EDB0-B2008BA650BB}"/>
              </a:ext>
            </a:extLst>
          </p:cNvPr>
          <p:cNvSpPr txBox="1"/>
          <p:nvPr/>
        </p:nvSpPr>
        <p:spPr>
          <a:xfrm>
            <a:off x="1300199" y="5762972"/>
            <a:ext cx="1900200" cy="369332"/>
          </a:xfrm>
          <a:prstGeom prst="rect">
            <a:avLst/>
          </a:prstGeom>
          <a:noFill/>
        </p:spPr>
        <p:txBody>
          <a:bodyPr wrap="none" rtlCol="0">
            <a:spAutoFit/>
          </a:bodyPr>
          <a:lstStyle/>
          <a:p>
            <a:r>
              <a:rPr lang="en-US" dirty="0"/>
              <a:t>Execution Time (s)</a:t>
            </a:r>
          </a:p>
        </p:txBody>
      </p:sp>
      <p:sp>
        <p:nvSpPr>
          <p:cNvPr id="10" name="TextBox 9">
            <a:extLst>
              <a:ext uri="{FF2B5EF4-FFF2-40B4-BE49-F238E27FC236}">
                <a16:creationId xmlns:a16="http://schemas.microsoft.com/office/drawing/2014/main" id="{2A4DF391-7BD2-BDC9-D5F2-86833321FBAC}"/>
              </a:ext>
            </a:extLst>
          </p:cNvPr>
          <p:cNvSpPr txBox="1"/>
          <p:nvPr/>
        </p:nvSpPr>
        <p:spPr>
          <a:xfrm>
            <a:off x="7567490" y="5762972"/>
            <a:ext cx="1601913" cy="369332"/>
          </a:xfrm>
          <a:prstGeom prst="rect">
            <a:avLst/>
          </a:prstGeom>
          <a:noFill/>
        </p:spPr>
        <p:txBody>
          <a:bodyPr wrap="none" rtlCol="0">
            <a:spAutoFit/>
          </a:bodyPr>
          <a:lstStyle/>
          <a:p>
            <a:r>
              <a:rPr lang="en-US" dirty="0"/>
              <a:t>Peak RAM (GB)</a:t>
            </a:r>
          </a:p>
        </p:txBody>
      </p:sp>
    </p:spTree>
    <p:extLst>
      <p:ext uri="{BB962C8B-B14F-4D97-AF65-F5344CB8AC3E}">
        <p14:creationId xmlns:p14="http://schemas.microsoft.com/office/powerpoint/2010/main" val="36477935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D04B1-E02C-3FC7-82E5-82FDD40BE7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C69174-EA5A-C5FC-1CEF-E6DE66D2DD6F}"/>
              </a:ext>
            </a:extLst>
          </p:cNvPr>
          <p:cNvSpPr>
            <a:spLocks noGrp="1"/>
          </p:cNvSpPr>
          <p:nvPr>
            <p:ph type="title"/>
          </p:nvPr>
        </p:nvSpPr>
        <p:spPr>
          <a:xfrm>
            <a:off x="1097280" y="286603"/>
            <a:ext cx="10359188" cy="1430705"/>
          </a:xfrm>
        </p:spPr>
        <p:txBody>
          <a:bodyPr>
            <a:normAutofit/>
          </a:bodyPr>
          <a:lstStyle/>
          <a:p>
            <a:r>
              <a:rPr lang="en-US" b="1" dirty="0"/>
              <a:t>Results: </a:t>
            </a:r>
            <a:r>
              <a:rPr lang="en-US" b="1" dirty="0">
                <a:solidFill>
                  <a:srgbClr val="404040"/>
                </a:solidFill>
                <a:latin typeface="Calibri Light"/>
                <a:ea typeface="Calibri Light"/>
                <a:cs typeface="Calibri Light"/>
              </a:rPr>
              <a:t>Subsampling to target number of bases</a:t>
            </a:r>
            <a:r>
              <a:rPr lang="en-US" b="1" dirty="0"/>
              <a:t> (2/4)</a:t>
            </a:r>
            <a:endParaRPr lang="en-US" dirty="0"/>
          </a:p>
        </p:txBody>
      </p:sp>
      <p:sp>
        <p:nvSpPr>
          <p:cNvPr id="4" name="Date Placeholder 3">
            <a:extLst>
              <a:ext uri="{FF2B5EF4-FFF2-40B4-BE49-F238E27FC236}">
                <a16:creationId xmlns:a16="http://schemas.microsoft.com/office/drawing/2014/main" id="{58A7AA4B-C31E-A801-9AA0-FC100CBB2DB8}"/>
              </a:ext>
            </a:extLst>
          </p:cNvPr>
          <p:cNvSpPr>
            <a:spLocks noGrp="1"/>
          </p:cNvSpPr>
          <p:nvPr>
            <p:ph type="dt" sz="half" idx="10"/>
          </p:nvPr>
        </p:nvSpPr>
        <p:spPr/>
        <p:txBody>
          <a:bodyPr/>
          <a:lstStyle/>
          <a:p>
            <a:fld id="{BBC26B67-AAB5-4300-8154-55534B8BD401}" type="datetime1">
              <a:rPr lang="en-US"/>
              <a:t>10/19/26</a:t>
            </a:fld>
            <a:endParaRPr lang="en-US" dirty="0"/>
          </a:p>
        </p:txBody>
      </p:sp>
      <p:sp>
        <p:nvSpPr>
          <p:cNvPr id="3" name="Slide Number Placeholder 2">
            <a:extLst>
              <a:ext uri="{FF2B5EF4-FFF2-40B4-BE49-F238E27FC236}">
                <a16:creationId xmlns:a16="http://schemas.microsoft.com/office/drawing/2014/main" id="{5D0CBAF8-C7AF-FC8F-7F8D-28D641BDBF35}"/>
              </a:ext>
            </a:extLst>
          </p:cNvPr>
          <p:cNvSpPr>
            <a:spLocks noGrp="1"/>
          </p:cNvSpPr>
          <p:nvPr>
            <p:ph type="sldNum" sz="quarter" idx="12"/>
          </p:nvPr>
        </p:nvSpPr>
        <p:spPr/>
        <p:txBody>
          <a:bodyPr/>
          <a:lstStyle/>
          <a:p>
            <a:fld id="{CC057153-B650-4DEB-B370-79DDCFDCE934}" type="slidenum">
              <a:rPr lang="en-US" dirty="0"/>
              <a:t>11</a:t>
            </a:fld>
            <a:endParaRPr lang="en-US"/>
          </a:p>
        </p:txBody>
      </p:sp>
      <p:pic>
        <p:nvPicPr>
          <p:cNvPr id="7" name="Picture 6">
            <a:extLst>
              <a:ext uri="{FF2B5EF4-FFF2-40B4-BE49-F238E27FC236}">
                <a16:creationId xmlns:a16="http://schemas.microsoft.com/office/drawing/2014/main" id="{4CD4F8D8-EB6F-C2E3-7B4F-550BF1558862}"/>
              </a:ext>
            </a:extLst>
          </p:cNvPr>
          <p:cNvPicPr>
            <a:picLocks noChangeAspect="1"/>
          </p:cNvPicPr>
          <p:nvPr/>
        </p:nvPicPr>
        <p:blipFill>
          <a:blip r:embed="rId2"/>
          <a:stretch>
            <a:fillRect/>
          </a:stretch>
        </p:blipFill>
        <p:spPr>
          <a:xfrm>
            <a:off x="0" y="1947350"/>
            <a:ext cx="6197600" cy="3767650"/>
          </a:xfrm>
          <a:prstGeom prst="rect">
            <a:avLst/>
          </a:prstGeom>
        </p:spPr>
      </p:pic>
      <p:pic>
        <p:nvPicPr>
          <p:cNvPr id="8" name="Picture 7">
            <a:extLst>
              <a:ext uri="{FF2B5EF4-FFF2-40B4-BE49-F238E27FC236}">
                <a16:creationId xmlns:a16="http://schemas.microsoft.com/office/drawing/2014/main" id="{8A37DF44-E7F8-9A26-4DB0-CC6D63B76733}"/>
              </a:ext>
            </a:extLst>
          </p:cNvPr>
          <p:cNvPicPr>
            <a:picLocks noChangeAspect="1"/>
          </p:cNvPicPr>
          <p:nvPr/>
        </p:nvPicPr>
        <p:blipFill>
          <a:blip r:embed="rId3"/>
          <a:stretch>
            <a:fillRect/>
          </a:stretch>
        </p:blipFill>
        <p:spPr>
          <a:xfrm>
            <a:off x="6276874" y="1947350"/>
            <a:ext cx="5788126" cy="3767650"/>
          </a:xfrm>
          <a:prstGeom prst="rect">
            <a:avLst/>
          </a:prstGeom>
        </p:spPr>
      </p:pic>
      <p:sp>
        <p:nvSpPr>
          <p:cNvPr id="9" name="TextBox 8">
            <a:extLst>
              <a:ext uri="{FF2B5EF4-FFF2-40B4-BE49-F238E27FC236}">
                <a16:creationId xmlns:a16="http://schemas.microsoft.com/office/drawing/2014/main" id="{844B21E3-6DBF-F182-E5BA-21AE2D50125C}"/>
              </a:ext>
            </a:extLst>
          </p:cNvPr>
          <p:cNvSpPr txBox="1"/>
          <p:nvPr/>
        </p:nvSpPr>
        <p:spPr>
          <a:xfrm>
            <a:off x="1435100" y="5881114"/>
            <a:ext cx="1522083" cy="369332"/>
          </a:xfrm>
          <a:prstGeom prst="rect">
            <a:avLst/>
          </a:prstGeom>
          <a:noFill/>
        </p:spPr>
        <p:txBody>
          <a:bodyPr wrap="none" rtlCol="0">
            <a:spAutoFit/>
          </a:bodyPr>
          <a:lstStyle/>
          <a:p>
            <a:r>
              <a:rPr lang="en-US" noProof="0" dirty="0"/>
              <a:t>CPU efficiency</a:t>
            </a:r>
          </a:p>
        </p:txBody>
      </p:sp>
      <p:sp>
        <p:nvSpPr>
          <p:cNvPr id="10" name="TextBox 9">
            <a:extLst>
              <a:ext uri="{FF2B5EF4-FFF2-40B4-BE49-F238E27FC236}">
                <a16:creationId xmlns:a16="http://schemas.microsoft.com/office/drawing/2014/main" id="{0B161CA7-F142-EB6F-F689-170F53BFCE13}"/>
              </a:ext>
            </a:extLst>
          </p:cNvPr>
          <p:cNvSpPr txBox="1"/>
          <p:nvPr/>
        </p:nvSpPr>
        <p:spPr>
          <a:xfrm>
            <a:off x="7768302" y="5881114"/>
            <a:ext cx="1375698" cy="369332"/>
          </a:xfrm>
          <a:prstGeom prst="rect">
            <a:avLst/>
          </a:prstGeom>
          <a:noFill/>
        </p:spPr>
        <p:txBody>
          <a:bodyPr wrap="none" rtlCol="0">
            <a:spAutoFit/>
          </a:bodyPr>
          <a:lstStyle/>
          <a:p>
            <a:r>
              <a:rPr lang="en-US" dirty="0"/>
              <a:t>CPU Time (s)</a:t>
            </a:r>
          </a:p>
        </p:txBody>
      </p:sp>
    </p:spTree>
    <p:extLst>
      <p:ext uri="{BB962C8B-B14F-4D97-AF65-F5344CB8AC3E}">
        <p14:creationId xmlns:p14="http://schemas.microsoft.com/office/powerpoint/2010/main" val="1865621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58C0A-CA81-6EFD-58B7-44FB7A1846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44F951-EBDE-124A-2752-4D15B5B2D902}"/>
              </a:ext>
            </a:extLst>
          </p:cNvPr>
          <p:cNvSpPr>
            <a:spLocks noGrp="1"/>
          </p:cNvSpPr>
          <p:nvPr>
            <p:ph type="title"/>
          </p:nvPr>
        </p:nvSpPr>
        <p:spPr>
          <a:xfrm>
            <a:off x="1097280" y="286603"/>
            <a:ext cx="10359188" cy="1430705"/>
          </a:xfrm>
        </p:spPr>
        <p:txBody>
          <a:bodyPr>
            <a:normAutofit/>
          </a:bodyPr>
          <a:lstStyle/>
          <a:p>
            <a:r>
              <a:rPr lang="en-US" b="1" dirty="0"/>
              <a:t>Results: </a:t>
            </a:r>
            <a:r>
              <a:rPr lang="en-US" b="1" dirty="0">
                <a:solidFill>
                  <a:srgbClr val="404040"/>
                </a:solidFill>
                <a:latin typeface="Calibri Light"/>
                <a:ea typeface="Calibri Light"/>
                <a:cs typeface="Calibri Light"/>
              </a:rPr>
              <a:t>Subsampling to target number of bases</a:t>
            </a:r>
            <a:r>
              <a:rPr lang="en-US" b="1" dirty="0"/>
              <a:t> (3/4)</a:t>
            </a:r>
            <a:endParaRPr lang="en-US" dirty="0"/>
          </a:p>
        </p:txBody>
      </p:sp>
      <p:sp>
        <p:nvSpPr>
          <p:cNvPr id="4" name="Date Placeholder 3">
            <a:extLst>
              <a:ext uri="{FF2B5EF4-FFF2-40B4-BE49-F238E27FC236}">
                <a16:creationId xmlns:a16="http://schemas.microsoft.com/office/drawing/2014/main" id="{D8312ACE-37CE-77AB-199B-D76F916E695F}"/>
              </a:ext>
            </a:extLst>
          </p:cNvPr>
          <p:cNvSpPr>
            <a:spLocks noGrp="1"/>
          </p:cNvSpPr>
          <p:nvPr>
            <p:ph type="dt" sz="half" idx="10"/>
          </p:nvPr>
        </p:nvSpPr>
        <p:spPr/>
        <p:txBody>
          <a:bodyPr/>
          <a:lstStyle/>
          <a:p>
            <a:fld id="{BBC26B67-AAB5-4300-8154-55534B8BD401}" type="datetime1">
              <a:rPr lang="en-US"/>
              <a:t>10/19/26</a:t>
            </a:fld>
            <a:endParaRPr lang="en-US" dirty="0"/>
          </a:p>
        </p:txBody>
      </p:sp>
      <p:sp>
        <p:nvSpPr>
          <p:cNvPr id="3" name="Slide Number Placeholder 2">
            <a:extLst>
              <a:ext uri="{FF2B5EF4-FFF2-40B4-BE49-F238E27FC236}">
                <a16:creationId xmlns:a16="http://schemas.microsoft.com/office/drawing/2014/main" id="{004B2B9B-A708-B8E3-C8F0-1C715D287AA4}"/>
              </a:ext>
            </a:extLst>
          </p:cNvPr>
          <p:cNvSpPr>
            <a:spLocks noGrp="1"/>
          </p:cNvSpPr>
          <p:nvPr>
            <p:ph type="sldNum" sz="quarter" idx="12"/>
          </p:nvPr>
        </p:nvSpPr>
        <p:spPr/>
        <p:txBody>
          <a:bodyPr/>
          <a:lstStyle/>
          <a:p>
            <a:fld id="{CC057153-B650-4DEB-B370-79DDCFDCE934}" type="slidenum">
              <a:rPr lang="en-US" dirty="0"/>
              <a:t>12</a:t>
            </a:fld>
            <a:endParaRPr lang="en-US"/>
          </a:p>
        </p:txBody>
      </p:sp>
      <p:pic>
        <p:nvPicPr>
          <p:cNvPr id="14" name="Picture 13">
            <a:extLst>
              <a:ext uri="{FF2B5EF4-FFF2-40B4-BE49-F238E27FC236}">
                <a16:creationId xmlns:a16="http://schemas.microsoft.com/office/drawing/2014/main" id="{110D5C40-E25D-0465-7847-79F4E47F91D8}"/>
              </a:ext>
            </a:extLst>
          </p:cNvPr>
          <p:cNvPicPr>
            <a:picLocks noChangeAspect="1"/>
          </p:cNvPicPr>
          <p:nvPr/>
        </p:nvPicPr>
        <p:blipFill>
          <a:blip r:embed="rId2"/>
          <a:stretch>
            <a:fillRect/>
          </a:stretch>
        </p:blipFill>
        <p:spPr>
          <a:xfrm>
            <a:off x="2400300" y="1786370"/>
            <a:ext cx="7640480" cy="5038540"/>
          </a:xfrm>
          <a:prstGeom prst="rect">
            <a:avLst/>
          </a:prstGeom>
        </p:spPr>
      </p:pic>
    </p:spTree>
    <p:extLst>
      <p:ext uri="{BB962C8B-B14F-4D97-AF65-F5344CB8AC3E}">
        <p14:creationId xmlns:p14="http://schemas.microsoft.com/office/powerpoint/2010/main" val="29875986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3ABFE-D0FE-7D79-C7E7-61190837D8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9EED05-955C-7166-2C5A-8AC02F5C0439}"/>
              </a:ext>
            </a:extLst>
          </p:cNvPr>
          <p:cNvSpPr>
            <a:spLocks noGrp="1"/>
          </p:cNvSpPr>
          <p:nvPr>
            <p:ph type="title"/>
          </p:nvPr>
        </p:nvSpPr>
        <p:spPr>
          <a:xfrm>
            <a:off x="1097280" y="286603"/>
            <a:ext cx="10359188" cy="1430705"/>
          </a:xfrm>
        </p:spPr>
        <p:txBody>
          <a:bodyPr>
            <a:normAutofit/>
          </a:bodyPr>
          <a:lstStyle/>
          <a:p>
            <a:r>
              <a:rPr lang="en-US" b="1" dirty="0"/>
              <a:t>Results: </a:t>
            </a:r>
            <a:r>
              <a:rPr lang="en-US" b="1" dirty="0">
                <a:solidFill>
                  <a:srgbClr val="404040"/>
                </a:solidFill>
                <a:latin typeface="Calibri Light"/>
                <a:ea typeface="Calibri Light"/>
                <a:cs typeface="Calibri Light"/>
              </a:rPr>
              <a:t>Subsampling to target number of bases</a:t>
            </a:r>
            <a:r>
              <a:rPr lang="en-US" b="1" dirty="0"/>
              <a:t> (4/4)</a:t>
            </a:r>
            <a:endParaRPr lang="en-US" dirty="0"/>
          </a:p>
        </p:txBody>
      </p:sp>
      <p:sp>
        <p:nvSpPr>
          <p:cNvPr id="4" name="Date Placeholder 3">
            <a:extLst>
              <a:ext uri="{FF2B5EF4-FFF2-40B4-BE49-F238E27FC236}">
                <a16:creationId xmlns:a16="http://schemas.microsoft.com/office/drawing/2014/main" id="{1120B184-CBCE-921C-D42C-2C11F396BB33}"/>
              </a:ext>
            </a:extLst>
          </p:cNvPr>
          <p:cNvSpPr>
            <a:spLocks noGrp="1"/>
          </p:cNvSpPr>
          <p:nvPr>
            <p:ph type="dt" sz="half" idx="10"/>
          </p:nvPr>
        </p:nvSpPr>
        <p:spPr/>
        <p:txBody>
          <a:bodyPr/>
          <a:lstStyle/>
          <a:p>
            <a:fld id="{BBC26B67-AAB5-4300-8154-55534B8BD401}" type="datetime1">
              <a:rPr lang="en-US"/>
              <a:t>10/19/26</a:t>
            </a:fld>
            <a:endParaRPr lang="en-US" dirty="0"/>
          </a:p>
        </p:txBody>
      </p:sp>
      <p:sp>
        <p:nvSpPr>
          <p:cNvPr id="3" name="Slide Number Placeholder 2">
            <a:extLst>
              <a:ext uri="{FF2B5EF4-FFF2-40B4-BE49-F238E27FC236}">
                <a16:creationId xmlns:a16="http://schemas.microsoft.com/office/drawing/2014/main" id="{EC4C2C76-F345-49F8-78A0-286E9E571A6D}"/>
              </a:ext>
            </a:extLst>
          </p:cNvPr>
          <p:cNvSpPr>
            <a:spLocks noGrp="1"/>
          </p:cNvSpPr>
          <p:nvPr>
            <p:ph type="sldNum" sz="quarter" idx="12"/>
          </p:nvPr>
        </p:nvSpPr>
        <p:spPr/>
        <p:txBody>
          <a:bodyPr/>
          <a:lstStyle/>
          <a:p>
            <a:fld id="{CC057153-B650-4DEB-B370-79DDCFDCE934}" type="slidenum">
              <a:rPr lang="en-US" dirty="0"/>
              <a:t>13</a:t>
            </a:fld>
            <a:endParaRPr lang="en-US"/>
          </a:p>
        </p:txBody>
      </p:sp>
      <p:pic>
        <p:nvPicPr>
          <p:cNvPr id="6" name="Picture 5">
            <a:extLst>
              <a:ext uri="{FF2B5EF4-FFF2-40B4-BE49-F238E27FC236}">
                <a16:creationId xmlns:a16="http://schemas.microsoft.com/office/drawing/2014/main" id="{5EB6C498-1700-E307-72A8-66ED2D64C0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72400" y="2413000"/>
            <a:ext cx="4216400" cy="3200400"/>
          </a:xfrm>
          <a:prstGeom prst="rect">
            <a:avLst/>
          </a:prstGeom>
        </p:spPr>
      </p:pic>
      <p:pic>
        <p:nvPicPr>
          <p:cNvPr id="8" name="Picture 7">
            <a:extLst>
              <a:ext uri="{FF2B5EF4-FFF2-40B4-BE49-F238E27FC236}">
                <a16:creationId xmlns:a16="http://schemas.microsoft.com/office/drawing/2014/main" id="{DA2C2DDB-F1F3-526F-25CA-B7C51DA9938F}"/>
              </a:ext>
            </a:extLst>
          </p:cNvPr>
          <p:cNvPicPr>
            <a:picLocks noChangeAspect="1"/>
          </p:cNvPicPr>
          <p:nvPr/>
        </p:nvPicPr>
        <p:blipFill>
          <a:blip r:embed="rId3"/>
          <a:stretch>
            <a:fillRect/>
          </a:stretch>
        </p:blipFill>
        <p:spPr>
          <a:xfrm>
            <a:off x="0" y="1868195"/>
            <a:ext cx="7772400" cy="4290009"/>
          </a:xfrm>
          <a:prstGeom prst="rect">
            <a:avLst/>
          </a:prstGeom>
        </p:spPr>
      </p:pic>
    </p:spTree>
    <p:extLst>
      <p:ext uri="{BB962C8B-B14F-4D97-AF65-F5344CB8AC3E}">
        <p14:creationId xmlns:p14="http://schemas.microsoft.com/office/powerpoint/2010/main" val="35815501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0BEBF-B9A8-9328-3499-BD9CE848FA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E9BDF5-AF69-88A4-2EE8-0C0230FE8257}"/>
              </a:ext>
            </a:extLst>
          </p:cNvPr>
          <p:cNvSpPr>
            <a:spLocks noGrp="1"/>
          </p:cNvSpPr>
          <p:nvPr>
            <p:ph type="title"/>
          </p:nvPr>
        </p:nvSpPr>
        <p:spPr/>
        <p:txBody>
          <a:bodyPr>
            <a:normAutofit/>
          </a:bodyPr>
          <a:lstStyle/>
          <a:p>
            <a:r>
              <a:rPr lang="en-US" b="1"/>
              <a:t>Conclusion</a:t>
            </a:r>
            <a:endParaRPr lang="en-US"/>
          </a:p>
        </p:txBody>
      </p:sp>
      <p:sp>
        <p:nvSpPr>
          <p:cNvPr id="4" name="Date Placeholder 3">
            <a:extLst>
              <a:ext uri="{FF2B5EF4-FFF2-40B4-BE49-F238E27FC236}">
                <a16:creationId xmlns:a16="http://schemas.microsoft.com/office/drawing/2014/main" id="{03B7B379-7868-D732-2EDC-90B61F886091}"/>
              </a:ext>
            </a:extLst>
          </p:cNvPr>
          <p:cNvSpPr>
            <a:spLocks noGrp="1"/>
          </p:cNvSpPr>
          <p:nvPr>
            <p:ph type="dt" sz="half" idx="10"/>
          </p:nvPr>
        </p:nvSpPr>
        <p:spPr/>
        <p:txBody>
          <a:bodyPr/>
          <a:lstStyle/>
          <a:p>
            <a:fld id="{BBC26B67-AAB5-4300-8154-55534B8BD401}" type="datetime1">
              <a:rPr lang="en-US"/>
              <a:t>10/19/26</a:t>
            </a:fld>
            <a:endParaRPr lang="en-US" dirty="0"/>
          </a:p>
        </p:txBody>
      </p:sp>
      <p:sp>
        <p:nvSpPr>
          <p:cNvPr id="3" name="Slide Number Placeholder 2">
            <a:extLst>
              <a:ext uri="{FF2B5EF4-FFF2-40B4-BE49-F238E27FC236}">
                <a16:creationId xmlns:a16="http://schemas.microsoft.com/office/drawing/2014/main" id="{362A7A10-0F8F-1903-D2B8-34E4AB0693AC}"/>
              </a:ext>
            </a:extLst>
          </p:cNvPr>
          <p:cNvSpPr>
            <a:spLocks noGrp="1"/>
          </p:cNvSpPr>
          <p:nvPr>
            <p:ph type="sldNum" sz="quarter" idx="12"/>
          </p:nvPr>
        </p:nvSpPr>
        <p:spPr/>
        <p:txBody>
          <a:bodyPr/>
          <a:lstStyle/>
          <a:p>
            <a:fld id="{CC057153-B650-4DEB-B370-79DDCFDCE934}" type="slidenum">
              <a:rPr lang="en-US" dirty="0"/>
              <a:t>14</a:t>
            </a:fld>
            <a:endParaRPr lang="en-US"/>
          </a:p>
        </p:txBody>
      </p:sp>
    </p:spTree>
    <p:extLst>
      <p:ext uri="{BB962C8B-B14F-4D97-AF65-F5344CB8AC3E}">
        <p14:creationId xmlns:p14="http://schemas.microsoft.com/office/powerpoint/2010/main" val="1729606316"/>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d400387a-212f-43ea-ac7f-77aa12d7977e}" enabled="0" method="" siteId="{d400387a-212f-43ea-ac7f-77aa12d7977e}" removed="1"/>
</clbl:labelList>
</file>

<file path=docProps/app.xml><?xml version="1.0" encoding="utf-8"?>
<Properties xmlns="http://schemas.openxmlformats.org/officeDocument/2006/extended-properties" xmlns:vt="http://schemas.openxmlformats.org/officeDocument/2006/docPropsVTypes">
  <TotalTime>292</TotalTime>
  <Words>799</Words>
  <Application>Microsoft Macintosh PowerPoint</Application>
  <PresentationFormat>Widescreen</PresentationFormat>
  <Paragraphs>221</Paragraphs>
  <Slides>14</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Calibri Light</vt:lpstr>
      <vt:lpstr>Courier New</vt:lpstr>
      <vt:lpstr>Google Sans</vt:lpstr>
      <vt:lpstr>Neue Haas Grotesk Text Pro</vt:lpstr>
      <vt:lpstr>Roboto</vt:lpstr>
      <vt:lpstr>Retrospect</vt:lpstr>
      <vt:lpstr>      Benchmark of Error Correction Models </vt:lpstr>
      <vt:lpstr>Outline</vt:lpstr>
      <vt:lpstr>Context</vt:lpstr>
      <vt:lpstr>Method (1/2)</vt:lpstr>
      <vt:lpstr>Method (2/2)</vt:lpstr>
      <vt:lpstr>Results: Proportional read subsampling (1/4)</vt:lpstr>
      <vt:lpstr>Results: Proportional read subsampling (2/4)</vt:lpstr>
      <vt:lpstr>Results: Proportional read subsampling (3/4)</vt:lpstr>
      <vt:lpstr>Results: Proportional read subsampling (4/4)</vt:lpstr>
      <vt:lpstr>Results: Subsampling to target number of bases (1/4)</vt:lpstr>
      <vt:lpstr>Results: Subsampling to target number of bases (2/4)</vt:lpstr>
      <vt:lpstr>Results: Subsampling to target number of bases (3/4)</vt:lpstr>
      <vt:lpstr>Results: Subsampling to target number of bases (4/4)</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Meka, Moise Christian Junior (STUDENTS)</cp:lastModifiedBy>
  <cp:revision>752</cp:revision>
  <dcterms:created xsi:type="dcterms:W3CDTF">2026-10-18T14:20:20Z</dcterms:created>
  <dcterms:modified xsi:type="dcterms:W3CDTF">2026-10-19T20:57:21Z</dcterms:modified>
</cp:coreProperties>
</file>